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73" r:id="rId2"/>
    <p:sldId id="514" r:id="rId3"/>
    <p:sldId id="558" r:id="rId4"/>
    <p:sldId id="559" r:id="rId5"/>
    <p:sldId id="560" r:id="rId6"/>
    <p:sldId id="566" r:id="rId7"/>
    <p:sldId id="561" r:id="rId8"/>
    <p:sldId id="562" r:id="rId9"/>
    <p:sldId id="563" r:id="rId10"/>
    <p:sldId id="557" r:id="rId11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FAADC"/>
    <a:srgbClr val="003F87"/>
    <a:srgbClr val="2F5597"/>
    <a:srgbClr val="8DA1C4"/>
    <a:srgbClr val="182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浅色样式 1 - 强调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106" y="125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D7308E-CB75-4937-8AB5-A3598BE66253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0DA2A2-8270-4ED5-BF5C-C8E0B3242FE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26456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726703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1514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E3D15-C08E-23A8-AC10-B64B7D39E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2916858E-145B-E9F4-1D9A-2BB0113EA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F0CF8D57-D15A-B7CD-7CEA-B9FCC147D4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95A7BFB-4899-1910-A19B-B60FECAAA4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33462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D8A2B-F607-2D2F-8CA7-A6F4879B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FD613A6-8A5D-6867-0975-A0138E6A9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94B63C0-EAD2-F6A2-3CEF-1B8B80870F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F47AF18-F50A-EDE9-FA45-205944A6EF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1996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2D9A03-DEDF-C86C-41F9-BFC60B3434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B563938-C189-9A0F-B631-FBEADBE101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D058D2B-4542-BA97-0EF6-FF400253B1C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498A77C-D417-9B11-2389-E5C2F9663C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87896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CA1270-AF93-00BF-7BC7-CC89370C4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5842D1B5-BEB0-8D0E-E1E8-E2CD3762D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FA859A-42EA-9AA9-9C92-5F7F5F81D6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179DB24-AA83-FED9-1B5E-45B4844F36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2953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41C881-5BF9-8BB1-C7A6-7E1F87886C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E803D648-F244-9225-1389-D298FE8B7F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06D809B9-F28D-074E-DD43-6A1F213AF2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4F4217C-CB97-B153-1232-41FAD31915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62677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F042EE-7E6D-AED4-E0B7-C6FB48EFA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49147FF-9FAD-EB93-5103-BA531C109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995D70F-9F6F-8770-A35D-6C68048D4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17B7F9-8136-8719-44AD-4BD607D5C4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06074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52F84-C3FA-5128-AEC8-97D6577F77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C78BD44-5730-9E39-978C-F30E251934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88DAC9A-78F0-359C-2E3F-FC8F8043C9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692AA1A-0A60-7F73-C84D-7B1C0DD462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1794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0DA2A2-8270-4ED5-BF5C-C8E0B3242FE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21583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AFEB6D9-A667-4A00-BA79-5AA262E63F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A5D85D-5A15-4B00-B3E1-28501AACE1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1267EE7-ABC5-4F15-96E2-46DFE8EAD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AF4D921-A1D0-485E-867E-6163F010C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15C0938-FA48-4CCB-805D-F35F0EFD6B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5221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D5FEA0-4A33-4BE3-89F3-B4340F61D5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6296AB-1A3F-4B10-B836-B50B182408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1C52684-B4A4-4BBC-9538-918CA59E31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645D9C-6404-45A9-8CCE-E17B192DA8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6602A07-DE79-42BD-8EF9-DCC82A44F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3455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75330-6F96-4D78-99E9-FA66405D1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221C155-E575-4800-BAFB-5F71F7B2D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F4D310C-B163-4114-920D-0D147F3B7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DD405AD-C38A-4FB6-B6BA-210B932EC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91B81CF-3C9B-4ED8-B9D2-71DD4D2BEC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5480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0F6E681-99D4-4511-8E18-A4F97CBFEA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6FD7FF0-2731-4D0A-8C8A-23DB22701D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3F7587F-21F0-493F-A40A-5B8FD38730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3981B01-CBAA-4467-A55D-FA6165A3A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D554E01-E0EB-4C7B-A39B-E9499209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EFC5701-28F0-41AD-8DDD-1BC6D8880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8243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27E0A7F-9F0B-482C-8369-627CADEBF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1986BC7-4DBB-4AAB-9AE3-89F5FC4FA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A8D0ACD-6745-4387-B40A-236AFFE8F7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9320400-E156-49A6-A6D1-15D1B6E418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8E3386D-C3B6-4BBB-ACAD-E57CE2CD9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82AD9153-7876-478D-8C8A-739AB6A8F6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C07020-A502-4C0B-8EFE-6390595E1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D2CABBB-8404-4188-9CDF-FC208BF6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8240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CCCE42-A7E3-40C3-94B5-3BCA9DF16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26DC7E8-72D1-4F1D-B558-5869D016F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FC28638B-2AF9-4E11-AA01-B61113FC1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677B12E-7CFA-4BB8-AC50-6A9F6E15A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71211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478C682-4B4B-48DF-8FE7-CD888712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E3613-D0CE-45AF-A0F7-23BA3DECD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91C6DA6-4502-4DAC-84EE-94BCC373C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9801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206E28-5093-4FAB-A67B-0AAC04F5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FDAC90-0F2B-4C7D-AB74-1ED4EECA7A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1E8F660-1BD4-42FB-A309-C9A4EAA342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BCEB166-9FC3-466E-B1F4-7263935D92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292812B-FBE9-4E44-BD4A-458DA1061E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E5AED4-2B10-442D-B955-51528A992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906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F416C5A-5BE0-4F91-8729-26C326C050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4792FB6-1B91-462F-B91F-9FD3A04183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D478DE-7362-4F0C-BE80-A4F885A114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5A7690B-15F5-4DD2-88D6-3C33B7525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581376F-C838-4EC9-871C-0FC3ACE82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87CB226-1A53-47BD-A2B6-75BF1276F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3352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FC4D4E0-7AAD-4DFC-B130-91CB4F30DB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2FE3E61B-E3A3-490B-BCB3-1ACCCB2D4A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451EDF-27F8-4FD1-AF64-F3B742A81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F1B75D-3B7E-42ED-94BC-C8590F6DA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59E50C9-F56A-446E-AA78-4428E9155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9537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371FC963-FFA0-4980-B55B-8CD310EE70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9EA66F3-C54B-4826-BB51-7F303DEC67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B33BAF1-A695-4E3A-9698-091890283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F85499-A261-4474-9E03-E51F7D186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FBFB9-0F9A-4F0A-A8F8-4F50AD6A0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1205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7903B0-3A3F-45FD-8919-0CE1F6FE4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A2A3680-C466-46B5-9576-1CBDF023C6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25051C-C117-4522-B3B3-7A332F0CE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0DE5AE-854A-4B80-820C-1ACCD978BA3B}" type="datetimeFigureOut">
              <a:rPr lang="zh-CN" altLang="en-US" smtClean="0"/>
              <a:t>2026/6/17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1E4D47F-AE7F-4BB8-9820-DBD53F1DA6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E87AEAB-85AC-4B60-BB11-E2BA05ED88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44F22C-E4EF-4ECA-B9AE-8B396F99A3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2792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jpeg"/><Relationship Id="rId5" Type="http://schemas.openxmlformats.org/officeDocument/2006/relationships/image" Target="../media/image3.svg"/><Relationship Id="rId4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图形 23">
            <a:extLst>
              <a:ext uri="{FF2B5EF4-FFF2-40B4-BE49-F238E27FC236}">
                <a16:creationId xmlns:a16="http://schemas.microsoft.com/office/drawing/2014/main" id="{E86CA992-2458-4D0A-B4A6-2C7C96529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802218" y="2130856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01A623C9-37DC-4B6E-BD65-56B0C3376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4966" y="4615171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880DD2B-AD4B-4232-845E-4A9C30DE8F64}"/>
              </a:ext>
            </a:extLst>
          </p:cNvPr>
          <p:cNvSpPr/>
          <p:nvPr/>
        </p:nvSpPr>
        <p:spPr>
          <a:xfrm>
            <a:off x="6778975" y="1392996"/>
            <a:ext cx="4761716" cy="3805080"/>
          </a:xfrm>
          <a:prstGeom prst="rect">
            <a:avLst/>
          </a:prstGeom>
          <a:noFill/>
          <a:ln w="63500">
            <a:solidFill>
              <a:srgbClr val="2F559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0BC3B4D-DE95-4660-8889-F39AB20F4DBD}"/>
              </a:ext>
            </a:extLst>
          </p:cNvPr>
          <p:cNvSpPr/>
          <p:nvPr/>
        </p:nvSpPr>
        <p:spPr>
          <a:xfrm>
            <a:off x="-44848" y="2379133"/>
            <a:ext cx="12236848" cy="2413000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0597D1-D3A9-4543-B7E9-42A99E9122D9}"/>
              </a:ext>
            </a:extLst>
          </p:cNvPr>
          <p:cNvSpPr txBox="1"/>
          <p:nvPr/>
        </p:nvSpPr>
        <p:spPr>
          <a:xfrm>
            <a:off x="3167891" y="2707739"/>
            <a:ext cx="5919550" cy="16607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10000"/>
              </a:lnSpc>
              <a:defRPr/>
            </a:pPr>
            <a:r>
              <a:rPr lang="zh-CN" altLang="en-US" sz="4800" dirty="0">
                <a:solidFill>
                  <a:schemeClr val="bg1"/>
                </a:solidFill>
                <a:latin typeface="微软雅黑"/>
                <a:ea typeface="微软雅黑"/>
              </a:rPr>
              <a:t>基于深度学习的 </a:t>
            </a:r>
            <a:r>
              <a:rPr lang="en-US" altLang="zh-CN" sz="4800" dirty="0">
                <a:solidFill>
                  <a:schemeClr val="bg1"/>
                </a:solidFill>
                <a:latin typeface="微软雅黑"/>
                <a:ea typeface="微软雅黑"/>
              </a:rPr>
              <a:t>IMDB</a:t>
            </a:r>
            <a:r>
              <a:rPr lang="zh-CN" altLang="en-US" sz="4800" dirty="0">
                <a:solidFill>
                  <a:schemeClr val="bg1"/>
                </a:solidFill>
                <a:latin typeface="微软雅黑"/>
                <a:ea typeface="微软雅黑"/>
              </a:rPr>
              <a:t>影评情感分类</a:t>
            </a:r>
            <a:endParaRPr lang="en-US" altLang="zh-CN" sz="4800" dirty="0">
              <a:solidFill>
                <a:schemeClr val="bg1"/>
              </a:solidFill>
              <a:latin typeface="微软雅黑"/>
              <a:ea typeface="微软雅黑"/>
            </a:endParaRPr>
          </a:p>
        </p:txBody>
      </p:sp>
      <p:pic>
        <p:nvPicPr>
          <p:cNvPr id="4" name="图形 3">
            <a:extLst>
              <a:ext uri="{FF2B5EF4-FFF2-40B4-BE49-F238E27FC236}">
                <a16:creationId xmlns:a16="http://schemas.microsoft.com/office/drawing/2014/main" id="{AAFF26B0-F06D-4E12-ABB4-48CD8800DC6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9792" y="3009722"/>
            <a:ext cx="1387140" cy="115182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5" name="图形 4">
            <a:extLst>
              <a:ext uri="{FF2B5EF4-FFF2-40B4-BE49-F238E27FC236}">
                <a16:creationId xmlns:a16="http://schemas.microsoft.com/office/drawing/2014/main" id="{1E317E6C-BBA7-4430-84FA-4C6C4487F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85400" y="293382"/>
            <a:ext cx="1508654" cy="529352"/>
          </a:xfrm>
          <a:prstGeom prst="rect">
            <a:avLst/>
          </a:prstGeom>
        </p:spPr>
      </p:pic>
      <p:grpSp>
        <p:nvGrpSpPr>
          <p:cNvPr id="94" name="组合 93">
            <a:extLst>
              <a:ext uri="{FF2B5EF4-FFF2-40B4-BE49-F238E27FC236}">
                <a16:creationId xmlns:a16="http://schemas.microsoft.com/office/drawing/2014/main" id="{74AAB1E3-E9AA-482C-BC5B-5BA03F02F9EE}"/>
              </a:ext>
            </a:extLst>
          </p:cNvPr>
          <p:cNvGrpSpPr/>
          <p:nvPr/>
        </p:nvGrpSpPr>
        <p:grpSpPr>
          <a:xfrm>
            <a:off x="9159833" y="3760617"/>
            <a:ext cx="2263810" cy="497054"/>
            <a:chOff x="1764625" y="4448777"/>
            <a:chExt cx="4458980" cy="497054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ECCA80A5-3D6E-48F5-B670-5ED8EAE71F9E}"/>
                </a:ext>
              </a:extLst>
            </p:cNvPr>
            <p:cNvSpPr/>
            <p:nvPr/>
          </p:nvSpPr>
          <p:spPr>
            <a:xfrm>
              <a:off x="1764625" y="4448777"/>
              <a:ext cx="4342068" cy="497054"/>
            </a:xfrm>
            <a:prstGeom prst="roundRect">
              <a:avLst>
                <a:gd name="adj" fmla="val 50000"/>
              </a:avLst>
            </a:prstGeom>
            <a:solidFill>
              <a:srgbClr val="141B76">
                <a:alpha val="74902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 Light"/>
                <a:ea typeface="微软雅黑 Light"/>
                <a:cs typeface="+mn-cs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2E50AF1E-6827-451A-909D-87A84C1EA21C}"/>
                </a:ext>
              </a:extLst>
            </p:cNvPr>
            <p:cNvSpPr txBox="1"/>
            <p:nvPr/>
          </p:nvSpPr>
          <p:spPr>
            <a:xfrm>
              <a:off x="2200600" y="4545936"/>
              <a:ext cx="402300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微软雅黑 Light"/>
                  <a:ea typeface="微软雅黑 Light"/>
                  <a:cs typeface="+mn-cs"/>
                </a:rPr>
                <a:t>汇报人：胡东东</a:t>
              </a:r>
            </a:p>
          </p:txBody>
        </p:sp>
      </p:grpSp>
      <p:pic>
        <p:nvPicPr>
          <p:cNvPr id="15" name="图形 14">
            <a:extLst>
              <a:ext uri="{FF2B5EF4-FFF2-40B4-BE49-F238E27FC236}">
                <a16:creationId xmlns:a16="http://schemas.microsoft.com/office/drawing/2014/main" id="{A3094F62-EAF0-41BE-8707-942335AF67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1858" y="1768270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D76DFED0-B383-4A06-A2D3-4719720C40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791857" y="5097825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72133DB7-83E6-4F86-A86D-68528E5FAC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80642" y="1125928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9C81B2E4-B51C-49D8-B71F-3CEFEAECC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54966" y="5620170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3FECFCA-7D80-4796-9562-DE7780060511}"/>
              </a:ext>
            </a:extLst>
          </p:cNvPr>
          <p:cNvSpPr txBox="1"/>
          <p:nvPr/>
        </p:nvSpPr>
        <p:spPr>
          <a:xfrm>
            <a:off x="7527126" y="1917080"/>
            <a:ext cx="377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3F87"/>
                </a:solidFill>
              </a:rPr>
              <a:t>勤 学 </a:t>
            </a:r>
            <a:r>
              <a:rPr lang="en-US" altLang="zh-CN" dirty="0">
                <a:solidFill>
                  <a:srgbClr val="003F87"/>
                </a:solidFill>
              </a:rPr>
              <a:t> /  </a:t>
            </a:r>
            <a:r>
              <a:rPr lang="zh-CN" altLang="en-US" dirty="0">
                <a:solidFill>
                  <a:srgbClr val="003F87"/>
                </a:solidFill>
              </a:rPr>
              <a:t>修 德  </a:t>
            </a:r>
            <a:r>
              <a:rPr lang="en-US" altLang="zh-CN" dirty="0">
                <a:solidFill>
                  <a:srgbClr val="003F87"/>
                </a:solidFill>
              </a:rPr>
              <a:t>/  </a:t>
            </a:r>
            <a:r>
              <a:rPr lang="zh-CN" altLang="en-US" dirty="0">
                <a:solidFill>
                  <a:srgbClr val="003F87"/>
                </a:solidFill>
              </a:rPr>
              <a:t>明 辨  </a:t>
            </a:r>
            <a:r>
              <a:rPr lang="en-US" altLang="zh-CN" dirty="0">
                <a:solidFill>
                  <a:srgbClr val="003F87"/>
                </a:solidFill>
              </a:rPr>
              <a:t>/  </a:t>
            </a:r>
            <a:r>
              <a:rPr lang="zh-CN" altLang="en-US" dirty="0">
                <a:solidFill>
                  <a:srgbClr val="003F87"/>
                </a:solidFill>
              </a:rPr>
              <a:t>笃 实</a:t>
            </a:r>
          </a:p>
        </p:txBody>
      </p:sp>
      <p:sp>
        <p:nvSpPr>
          <p:cNvPr id="27" name="文本框 20">
            <a:extLst>
              <a:ext uri="{FF2B5EF4-FFF2-40B4-BE49-F238E27FC236}">
                <a16:creationId xmlns:a16="http://schemas.microsoft.com/office/drawing/2014/main" id="{BD709FC3-F4F8-443B-9E98-B73A947C16E4}"/>
              </a:ext>
            </a:extLst>
          </p:cNvPr>
          <p:cNvSpPr txBox="1"/>
          <p:nvPr/>
        </p:nvSpPr>
        <p:spPr>
          <a:xfrm>
            <a:off x="2906893" y="6087205"/>
            <a:ext cx="644301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1400" b="1" dirty="0">
                <a:solidFill>
                  <a:srgbClr val="003F8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人工智能课程专题研究</a:t>
            </a:r>
          </a:p>
        </p:txBody>
      </p:sp>
    </p:spTree>
    <p:extLst>
      <p:ext uri="{BB962C8B-B14F-4D97-AF65-F5344CB8AC3E}">
        <p14:creationId xmlns:p14="http://schemas.microsoft.com/office/powerpoint/2010/main" val="12244846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9D6A9-337F-42A2-BCCA-8F338829F0A3}"/>
              </a:ext>
            </a:extLst>
          </p:cNvPr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F7AD8624-3257-4DF1-AF21-40F9E7650401}"/>
              </a:ext>
            </a:extLst>
          </p:cNvPr>
          <p:cNvGrpSpPr/>
          <p:nvPr/>
        </p:nvGrpSpPr>
        <p:grpSpPr>
          <a:xfrm>
            <a:off x="736807" y="1316941"/>
            <a:ext cx="7433174" cy="4513224"/>
            <a:chOff x="317634" y="605298"/>
            <a:chExt cx="7433174" cy="4513224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FC156891-BE5B-46F0-A884-F97F38DCD7B8}"/>
                </a:ext>
              </a:extLst>
            </p:cNvPr>
            <p:cNvSpPr txBox="1"/>
            <p:nvPr/>
          </p:nvSpPr>
          <p:spPr>
            <a:xfrm>
              <a:off x="317634" y="605298"/>
              <a:ext cx="229593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dirty="0">
                  <a:solidFill>
                    <a:srgbClr val="003F87"/>
                  </a:solidFill>
                  <a:latin typeface="微软雅黑"/>
                  <a:ea typeface="微软雅黑"/>
                </a:rPr>
                <a:t>任务背景与目标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5F320A43-09F8-402E-AFCE-6F614E0E2B4F}"/>
                </a:ext>
              </a:extLst>
            </p:cNvPr>
            <p:cNvSpPr/>
            <p:nvPr/>
          </p:nvSpPr>
          <p:spPr>
            <a:xfrm>
              <a:off x="710658" y="1005408"/>
              <a:ext cx="7040150" cy="411311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just">
                <a:lnSpc>
                  <a:spcPct val="150000"/>
                </a:lnSpc>
                <a:defRPr/>
              </a:pPr>
              <a:r>
                <a:rPr lang="zh-CN" altLang="en-US" sz="1600" b="1" dirty="0"/>
                <a:t>🎯 任务</a:t>
              </a:r>
            </a:p>
            <a:p>
              <a:pPr marL="285750" lvl="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/>
                <a:t>对</a:t>
              </a:r>
              <a:r>
                <a:rPr lang="en-US" altLang="zh-CN" sz="1600" dirty="0"/>
                <a:t>IMDB</a:t>
              </a:r>
              <a:r>
                <a:rPr lang="zh-CN" altLang="en-US" sz="1600" dirty="0"/>
                <a:t>电影评论进行情感二分类</a:t>
              </a:r>
            </a:p>
            <a:p>
              <a:pPr marL="285750" lvl="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/>
                <a:t>判断一条影评是正面还是负面（</a:t>
              </a:r>
              <a:r>
                <a:rPr lang="en-US" altLang="zh-CN" sz="1600" dirty="0"/>
                <a:t>Positive or Negative</a:t>
              </a:r>
              <a:r>
                <a:rPr lang="zh-CN" altLang="en-US" sz="1600" dirty="0"/>
                <a:t>）</a:t>
              </a:r>
            </a:p>
            <a:p>
              <a:pPr lvl="0" algn="just">
                <a:lnSpc>
                  <a:spcPct val="150000"/>
                </a:lnSpc>
                <a:defRPr/>
              </a:pPr>
              <a:r>
                <a:rPr lang="zh-CN" altLang="en-US" sz="1600" b="1" dirty="0"/>
                <a:t>📊 数据集</a:t>
              </a:r>
            </a:p>
            <a:p>
              <a:pPr marL="285750" lvl="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/>
                <a:t>共</a:t>
              </a:r>
              <a:r>
                <a:rPr lang="en-US" altLang="zh-CN" sz="1600" dirty="0"/>
                <a:t>50000</a:t>
              </a:r>
              <a:r>
                <a:rPr lang="zh-CN" altLang="en-US" sz="1600" dirty="0"/>
                <a:t>条英文影评，正、负各</a:t>
              </a:r>
              <a:r>
                <a:rPr lang="en-US" altLang="zh-CN" sz="1600" dirty="0"/>
                <a:t>25000</a:t>
              </a:r>
              <a:r>
                <a:rPr lang="zh-CN" altLang="en-US" sz="1600" dirty="0"/>
                <a:t>条</a:t>
              </a:r>
            </a:p>
            <a:p>
              <a:pPr marL="285750" lvl="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/>
                <a:t>训练集</a:t>
              </a:r>
              <a:r>
                <a:rPr lang="en-US" altLang="zh-CN" sz="1600" dirty="0"/>
                <a:t>25000</a:t>
              </a:r>
              <a:r>
                <a:rPr lang="zh-CN" altLang="en-US" sz="1600" dirty="0"/>
                <a:t>条，测试集</a:t>
              </a:r>
              <a:r>
                <a:rPr lang="en-US" altLang="zh-CN" sz="1600" dirty="0"/>
                <a:t>25000</a:t>
              </a:r>
              <a:r>
                <a:rPr lang="zh-CN" altLang="en-US" sz="1600" dirty="0"/>
                <a:t>条（从训练集再切 </a:t>
              </a:r>
              <a:r>
                <a:rPr lang="en-US" altLang="zh-CN" sz="1600" dirty="0"/>
                <a:t>20% </a:t>
              </a:r>
              <a:r>
                <a:rPr lang="zh-CN" altLang="en-US" sz="1600" dirty="0"/>
                <a:t>作为验证集）</a:t>
              </a:r>
            </a:p>
            <a:p>
              <a:pPr lvl="0" algn="just">
                <a:lnSpc>
                  <a:spcPct val="150000"/>
                </a:lnSpc>
                <a:defRPr/>
              </a:pPr>
              <a:r>
                <a:rPr lang="zh-CN" altLang="en-US" sz="1600" b="1" dirty="0"/>
                <a:t>🔍 目标</a:t>
              </a:r>
            </a:p>
            <a:p>
              <a:pPr marL="285750" lvl="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/>
                <a:t>对比</a:t>
              </a:r>
              <a:r>
                <a:rPr lang="en-US" altLang="zh-CN" sz="1600" dirty="0"/>
                <a:t>CNN/RNN/Transformer</a:t>
              </a:r>
              <a:r>
                <a:rPr lang="zh-CN" altLang="en-US" sz="1600" dirty="0"/>
                <a:t>三种架构的性能差异</a:t>
              </a:r>
            </a:p>
            <a:p>
              <a:pPr marL="285750" lvl="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/>
                <a:t>探究词向量质量（随机 </a:t>
              </a:r>
              <a:r>
                <a:rPr lang="en-US" altLang="zh-CN" sz="1600" dirty="0"/>
                <a:t>vs </a:t>
              </a:r>
              <a:r>
                <a:rPr lang="en-US" altLang="zh-CN" sz="1600" dirty="0" err="1"/>
                <a:t>GloVe</a:t>
              </a:r>
              <a:r>
                <a:rPr lang="en-US" altLang="zh-CN" sz="1600" dirty="0"/>
                <a:t> vs</a:t>
              </a:r>
              <a:r>
                <a:rPr lang="zh-CN" altLang="en-US" sz="1600" dirty="0"/>
                <a:t>动态）对模型的影响</a:t>
              </a:r>
            </a:p>
            <a:p>
              <a:pPr marL="285750" lvl="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/>
                <a:t>通过超参数调优寻找</a:t>
              </a:r>
              <a:r>
                <a:rPr lang="en-US" altLang="zh-CN" sz="1600" dirty="0" err="1"/>
                <a:t>TextCNN</a:t>
              </a:r>
              <a:r>
                <a:rPr lang="zh-CN" altLang="en-US" sz="1600" dirty="0"/>
                <a:t>的最佳配置</a:t>
              </a:r>
            </a:p>
            <a:p>
              <a:pPr marL="285750" lvl="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  <a:defRPr/>
              </a:pPr>
              <a:r>
                <a:rPr lang="zh-CN" altLang="en-US" sz="1600" dirty="0"/>
                <a:t>搭建可交互</a:t>
              </a:r>
              <a:r>
                <a:rPr lang="en-US" altLang="zh-CN" sz="1600" dirty="0"/>
                <a:t>Demo</a:t>
              </a:r>
              <a:r>
                <a:rPr lang="zh-CN" altLang="en-US" sz="1600" dirty="0"/>
                <a:t>直观展示模型行为</a:t>
              </a:r>
              <a:endParaRPr kumimoji="0" lang="en-US" altLang="zh-C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95000"/>
                    <a:lumOff val="5000"/>
                  </a:prstClr>
                </a:solidFill>
                <a:effectLst/>
                <a:uLnTx/>
                <a:uFillTx/>
                <a:latin typeface="微软雅黑 Light" panose="020B0502040204020203" pitchFamily="34" charset="-122"/>
                <a:ea typeface="微软雅黑 Light" panose="020B0502040204020203" pitchFamily="34" charset="-122"/>
                <a:cs typeface="+mn-cs"/>
              </a:endParaRPr>
            </a:p>
          </p:txBody>
        </p:sp>
      </p:grpSp>
      <p:pic>
        <p:nvPicPr>
          <p:cNvPr id="41" name="图形 40">
            <a:extLst>
              <a:ext uri="{FF2B5EF4-FFF2-40B4-BE49-F238E27FC236}">
                <a16:creationId xmlns:a16="http://schemas.microsoft.com/office/drawing/2014/main" id="{7397B797-408E-4ED0-BE39-413E49E1A3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3B094345-BD23-EABD-A37D-088934B67D80}"/>
              </a:ext>
            </a:extLst>
          </p:cNvPr>
          <p:cNvSpPr txBox="1"/>
          <p:nvPr/>
        </p:nvSpPr>
        <p:spPr>
          <a:xfrm>
            <a:off x="8916167" y="2867542"/>
            <a:ext cx="8971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n>
                  <a:solidFill>
                    <a:schemeClr val="tx1"/>
                  </a:solidFill>
                </a:ln>
                <a:latin typeface="+mj-lt"/>
              </a:rPr>
              <a:t>Positive</a:t>
            </a:r>
            <a:endParaRPr lang="zh-CN" altLang="en-US" dirty="0">
              <a:ln>
                <a:solidFill>
                  <a:schemeClr val="tx1"/>
                </a:solidFill>
              </a:ln>
              <a:latin typeface="+mj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21E97C3-96AF-60EA-50E9-CA52F6CCCE93}"/>
              </a:ext>
            </a:extLst>
          </p:cNvPr>
          <p:cNvSpPr txBox="1"/>
          <p:nvPr/>
        </p:nvSpPr>
        <p:spPr>
          <a:xfrm>
            <a:off x="8872155" y="5013266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n>
                  <a:solidFill>
                    <a:schemeClr val="tx1"/>
                  </a:solidFill>
                </a:ln>
                <a:latin typeface="+mj-lt"/>
              </a:rPr>
              <a:t>Negative</a:t>
            </a:r>
            <a:endParaRPr lang="zh-CN" altLang="en-US" dirty="0">
              <a:ln>
                <a:solidFill>
                  <a:schemeClr val="tx1"/>
                </a:solidFill>
              </a:ln>
              <a:latin typeface="+mj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E1C7201-CD2F-AB97-8470-A6A80287E3C8}"/>
              </a:ext>
            </a:extLst>
          </p:cNvPr>
          <p:cNvSpPr txBox="1"/>
          <p:nvPr/>
        </p:nvSpPr>
        <p:spPr>
          <a:xfrm>
            <a:off x="7587051" y="1775184"/>
            <a:ext cx="34937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n>
                  <a:solidFill>
                    <a:schemeClr val="tx1"/>
                  </a:solidFill>
                </a:ln>
                <a:latin typeface="+mj-lt"/>
              </a:rPr>
              <a:t>This movie was absolutely fantastic! </a:t>
            </a:r>
          </a:p>
          <a:p>
            <a:r>
              <a:rPr lang="en-US" altLang="zh-CN" dirty="0">
                <a:ln>
                  <a:solidFill>
                    <a:schemeClr val="tx1"/>
                  </a:solidFill>
                </a:ln>
                <a:latin typeface="+mj-lt"/>
              </a:rPr>
              <a:t>I loved every moment.</a:t>
            </a:r>
            <a:endParaRPr lang="zh-CN" altLang="en-US" dirty="0">
              <a:ln>
                <a:solidFill>
                  <a:schemeClr val="tx1"/>
                </a:solidFill>
              </a:ln>
              <a:latin typeface="+mj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A5C4202-0DC4-AC62-B71B-851E3E898354}"/>
              </a:ext>
            </a:extLst>
          </p:cNvPr>
          <p:cNvSpPr txBox="1"/>
          <p:nvPr/>
        </p:nvSpPr>
        <p:spPr>
          <a:xfrm>
            <a:off x="7861904" y="3927397"/>
            <a:ext cx="30165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ln>
                  <a:solidFill>
                    <a:schemeClr val="tx1"/>
                  </a:solidFill>
                </a:ln>
                <a:latin typeface="+mj-lt"/>
              </a:rPr>
              <a:t>A complete waste of time, </a:t>
            </a:r>
          </a:p>
          <a:p>
            <a:r>
              <a:rPr lang="en-US" altLang="zh-CN" dirty="0">
                <a:ln>
                  <a:solidFill>
                    <a:schemeClr val="tx1"/>
                  </a:solidFill>
                </a:ln>
                <a:latin typeface="+mj-lt"/>
              </a:rPr>
              <a:t>terrible acting and boring plot</a:t>
            </a:r>
            <a:r>
              <a:rPr lang="en-US" altLang="zh-CN" dirty="0">
                <a:latin typeface="+mj-lt"/>
              </a:rPr>
              <a:t>.</a:t>
            </a:r>
            <a:endParaRPr lang="zh-CN" altLang="en-US" dirty="0">
              <a:latin typeface="+mj-lt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68E8204F-2937-CCF5-3DFA-087B2C0701F4}"/>
              </a:ext>
            </a:extLst>
          </p:cNvPr>
          <p:cNvSpPr/>
          <p:nvPr/>
        </p:nvSpPr>
        <p:spPr>
          <a:xfrm>
            <a:off x="7792998" y="3884601"/>
            <a:ext cx="3085438" cy="74128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3FBB550F-38E3-5BB5-9DF4-0FBF8B16073F}"/>
              </a:ext>
            </a:extLst>
          </p:cNvPr>
          <p:cNvSpPr/>
          <p:nvPr/>
        </p:nvSpPr>
        <p:spPr>
          <a:xfrm>
            <a:off x="8847441" y="2849953"/>
            <a:ext cx="1033253" cy="42141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31C856-6E29-DC86-19A5-A375603DF610}"/>
              </a:ext>
            </a:extLst>
          </p:cNvPr>
          <p:cNvSpPr/>
          <p:nvPr/>
        </p:nvSpPr>
        <p:spPr>
          <a:xfrm>
            <a:off x="7525101" y="1689918"/>
            <a:ext cx="3583994" cy="795184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B6CD358-F609-4EA7-A9DD-0A6DD194A1C5}"/>
              </a:ext>
            </a:extLst>
          </p:cNvPr>
          <p:cNvSpPr/>
          <p:nvPr/>
        </p:nvSpPr>
        <p:spPr>
          <a:xfrm>
            <a:off x="8814490" y="4984081"/>
            <a:ext cx="1161535" cy="4505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DE0AE2E-ED4E-6870-F5E8-0C82776CF03E}"/>
              </a:ext>
            </a:extLst>
          </p:cNvPr>
          <p:cNvSpPr txBox="1"/>
          <p:nvPr/>
        </p:nvSpPr>
        <p:spPr>
          <a:xfrm>
            <a:off x="9168198" y="4501192"/>
            <a:ext cx="44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↓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F60E7F5-CD40-8194-161A-84417F98D566}"/>
              </a:ext>
            </a:extLst>
          </p:cNvPr>
          <p:cNvSpPr txBox="1"/>
          <p:nvPr/>
        </p:nvSpPr>
        <p:spPr>
          <a:xfrm>
            <a:off x="9145687" y="2356719"/>
            <a:ext cx="4489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↓</a:t>
            </a:r>
          </a:p>
        </p:txBody>
      </p:sp>
    </p:spTree>
    <p:extLst>
      <p:ext uri="{BB962C8B-B14F-4D97-AF65-F5344CB8AC3E}">
        <p14:creationId xmlns:p14="http://schemas.microsoft.com/office/powerpoint/2010/main" val="968302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BC0CB-B46F-4C38-DCD5-96132EAD04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B0728CE-71AB-4443-F80C-C05824D5CE4E}"/>
              </a:ext>
            </a:extLst>
          </p:cNvPr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B30F4B6D-8D96-4559-8E95-CD55FCF23340}"/>
              </a:ext>
            </a:extLst>
          </p:cNvPr>
          <p:cNvGrpSpPr/>
          <p:nvPr/>
        </p:nvGrpSpPr>
        <p:grpSpPr>
          <a:xfrm>
            <a:off x="702641" y="1061568"/>
            <a:ext cx="3905699" cy="1866832"/>
            <a:chOff x="317633" y="605298"/>
            <a:chExt cx="2688504" cy="1866832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715E3F9B-5767-0DCB-EE16-2900BA2D6D19}"/>
                </a:ext>
              </a:extLst>
            </p:cNvPr>
            <p:cNvSpPr txBox="1"/>
            <p:nvPr/>
          </p:nvSpPr>
          <p:spPr>
            <a:xfrm>
              <a:off x="317633" y="605298"/>
              <a:ext cx="155206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zh-CN" altLang="en-US" sz="2000" dirty="0">
                  <a:solidFill>
                    <a:srgbClr val="003F87"/>
                  </a:solidFill>
                  <a:latin typeface="微软雅黑"/>
                  <a:ea typeface="微软雅黑"/>
                </a:rPr>
                <a:t>实验模型概览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1BEBFF2-6424-BF83-3760-56A807BB6CAC}"/>
                </a:ext>
              </a:extLst>
            </p:cNvPr>
            <p:cNvSpPr/>
            <p:nvPr/>
          </p:nvSpPr>
          <p:spPr>
            <a:xfrm>
              <a:off x="733250" y="1313671"/>
              <a:ext cx="2272887" cy="11584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/>
                <a:t>🟦 </a:t>
              </a:r>
              <a:r>
                <a:rPr lang="en-US" altLang="zh-CN" sz="1600" b="1" dirty="0"/>
                <a:t>CNN </a:t>
              </a:r>
              <a:r>
                <a:rPr lang="zh-CN" altLang="en-US" sz="1600" b="1" dirty="0"/>
                <a:t>路线 </a:t>
              </a:r>
              <a:r>
                <a:rPr lang="en-US" altLang="zh-CN" sz="1600" b="1" dirty="0"/>
                <a:t>- </a:t>
              </a:r>
              <a:r>
                <a:rPr lang="en-US" altLang="zh-CN" sz="1600" b="1" dirty="0" err="1"/>
                <a:t>TextCNN</a:t>
              </a:r>
              <a:endParaRPr lang="en-US" altLang="zh-CN" sz="1600" b="1" dirty="0"/>
            </a:p>
            <a:p>
              <a:pPr>
                <a:lnSpc>
                  <a:spcPct val="150000"/>
                </a:lnSpc>
              </a:pPr>
              <a:r>
                <a:rPr lang="zh-CN" altLang="en-US" sz="1600" dirty="0"/>
                <a:t>多尺寸卷积核捕捉局部短语</a:t>
              </a:r>
            </a:p>
            <a:p>
              <a:pPr>
                <a:lnSpc>
                  <a:spcPct val="150000"/>
                </a:lnSpc>
              </a:pPr>
              <a:r>
                <a:rPr lang="zh-CN" altLang="en-US" sz="1600" dirty="0"/>
                <a:t>训练快，适合快速迭代</a:t>
              </a:r>
              <a:endParaRPr lang="zh-CN" altLang="zh-CN" sz="1600" dirty="0"/>
            </a:p>
          </p:txBody>
        </p:sp>
      </p:grpSp>
      <p:pic>
        <p:nvPicPr>
          <p:cNvPr id="41" name="图形 40">
            <a:extLst>
              <a:ext uri="{FF2B5EF4-FFF2-40B4-BE49-F238E27FC236}">
                <a16:creationId xmlns:a16="http://schemas.microsoft.com/office/drawing/2014/main" id="{A100B6EC-C01F-C973-227A-F6352DD7531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AE2A5D50-C42B-6343-CC20-8446D281193B}"/>
              </a:ext>
            </a:extLst>
          </p:cNvPr>
          <p:cNvSpPr/>
          <p:nvPr/>
        </p:nvSpPr>
        <p:spPr>
          <a:xfrm>
            <a:off x="4445042" y="1772042"/>
            <a:ext cx="3301916" cy="11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🟩 </a:t>
            </a:r>
            <a:r>
              <a:rPr lang="en-US" altLang="zh-CN" sz="1600" b="1" dirty="0"/>
              <a:t>RNN </a:t>
            </a:r>
            <a:r>
              <a:rPr lang="zh-CN" altLang="en-US" sz="1600" b="1" dirty="0"/>
              <a:t>路线</a:t>
            </a:r>
            <a:r>
              <a:rPr lang="en-US" altLang="zh-CN" sz="1600" b="1" dirty="0"/>
              <a:t> -</a:t>
            </a:r>
            <a:r>
              <a:rPr lang="en-US" altLang="zh-CN" sz="1600" dirty="0"/>
              <a:t> </a:t>
            </a:r>
            <a:r>
              <a:rPr lang="en-US" altLang="zh-CN" sz="1600" b="1" dirty="0" err="1"/>
              <a:t>BiLSTM</a:t>
            </a:r>
            <a:r>
              <a:rPr lang="en-US" altLang="zh-CN" sz="1600" b="1" dirty="0"/>
              <a:t> + </a:t>
            </a:r>
            <a:r>
              <a:rPr lang="en-US" altLang="zh-CN" sz="1600" b="1" dirty="0" err="1"/>
              <a:t>GloVe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双向序列建模，理解上下⽂顺序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依赖预训练词向量提供语义</a:t>
            </a:r>
            <a:endParaRPr lang="zh-CN" altLang="zh-CN" sz="16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E5F8388-1FAC-7FD5-F219-8D221790EA82}"/>
              </a:ext>
            </a:extLst>
          </p:cNvPr>
          <p:cNvSpPr/>
          <p:nvPr/>
        </p:nvSpPr>
        <p:spPr>
          <a:xfrm>
            <a:off x="8011118" y="1769940"/>
            <a:ext cx="3301916" cy="11584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/>
              <a:t>🟧 </a:t>
            </a:r>
            <a:r>
              <a:rPr lang="en-US" altLang="zh-CN" sz="1600" b="1" dirty="0"/>
              <a:t>Transformer </a:t>
            </a:r>
            <a:r>
              <a:rPr lang="zh-CN" altLang="en-US" sz="1600" b="1" dirty="0"/>
              <a:t>路线 </a:t>
            </a:r>
            <a:r>
              <a:rPr lang="en-US" altLang="zh-CN" sz="1600" b="1" dirty="0"/>
              <a:t>- </a:t>
            </a:r>
            <a:r>
              <a:rPr lang="en-US" altLang="zh-CN" sz="1600" b="1" dirty="0" err="1"/>
              <a:t>DistilBERT</a:t>
            </a:r>
            <a:endParaRPr lang="en-US" altLang="zh-CN" sz="1600" b="1" dirty="0"/>
          </a:p>
          <a:p>
            <a:pPr>
              <a:lnSpc>
                <a:spcPct val="150000"/>
              </a:lnSpc>
            </a:pPr>
            <a:r>
              <a:rPr lang="zh-CN" altLang="en-US" sz="1600" dirty="0"/>
              <a:t>自注意力机制，全局建模</a:t>
            </a:r>
          </a:p>
          <a:p>
            <a:pPr>
              <a:lnSpc>
                <a:spcPct val="150000"/>
              </a:lnSpc>
            </a:pPr>
            <a:r>
              <a:rPr lang="zh-CN" altLang="en-US" sz="1600" dirty="0"/>
              <a:t>海量预训练知识，微调即可用</a:t>
            </a:r>
            <a:endParaRPr lang="zh-CN" altLang="zh-CN" sz="1600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DCD12CC1-EDBC-E5D4-B64F-3E96839D83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429173"/>
              </p:ext>
            </p:extLst>
          </p:nvPr>
        </p:nvGraphicFramePr>
        <p:xfrm>
          <a:off x="1717040" y="3413760"/>
          <a:ext cx="8757920" cy="1854200"/>
        </p:xfrm>
        <a:graphic>
          <a:graphicData uri="http://schemas.openxmlformats.org/drawingml/2006/table">
            <a:tbl>
              <a:tblPr firstRow="1" bandRow="1">
                <a:tableStyleId>{C083E6E3-FA7D-4D7B-A595-EF9225AFEA82}</a:tableStyleId>
              </a:tblPr>
              <a:tblGrid>
                <a:gridCol w="2189480">
                  <a:extLst>
                    <a:ext uri="{9D8B030D-6E8A-4147-A177-3AD203B41FA5}">
                      <a16:colId xmlns:a16="http://schemas.microsoft.com/office/drawing/2014/main" val="3407514248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2876140730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2087573486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22130191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+mj-lt"/>
                        </a:rPr>
                        <a:t>TextCNN</a:t>
                      </a:r>
                      <a:endParaRPr lang="zh-CN" alt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+mj-lt"/>
                        </a:rPr>
                        <a:t>BiLSTM</a:t>
                      </a:r>
                      <a:r>
                        <a:rPr lang="en-US" altLang="zh-CN" sz="1600" dirty="0">
                          <a:latin typeface="+mj-lt"/>
                        </a:rPr>
                        <a:t> + </a:t>
                      </a:r>
                      <a:r>
                        <a:rPr lang="en-US" altLang="zh-CN" sz="1600" dirty="0" err="1">
                          <a:latin typeface="+mj-lt"/>
                        </a:rPr>
                        <a:t>GloVe</a:t>
                      </a:r>
                      <a:endParaRPr lang="zh-CN" alt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>
                          <a:latin typeface="+mj-lt"/>
                        </a:rPr>
                        <a:t>DistilBERT</a:t>
                      </a:r>
                      <a:endParaRPr lang="zh-CN" alt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748236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架构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j-lt"/>
                        </a:rPr>
                        <a:t>CNN</a:t>
                      </a:r>
                      <a:endParaRPr lang="zh-CN" alt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j-lt"/>
                        </a:rPr>
                        <a:t>RNN</a:t>
                      </a:r>
                      <a:endParaRPr lang="zh-CN" altLang="en-US" sz="1600" dirty="0">
                        <a:latin typeface="+mj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j-lt"/>
                        </a:rPr>
                        <a:t>Transformer</a:t>
                      </a:r>
                      <a:endParaRPr lang="zh-CN" altLang="en-US" sz="1600" dirty="0">
                        <a:latin typeface="+mj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253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词向量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随机初始化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 err="1"/>
                        <a:t>GloVe</a:t>
                      </a:r>
                      <a:r>
                        <a:rPr lang="zh-CN" altLang="en-US" sz="1600" dirty="0"/>
                        <a:t>静态预训练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动态上下文预训练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3953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参数量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约</a:t>
                      </a:r>
                      <a:r>
                        <a:rPr lang="en-US" altLang="zh-CN" sz="1600" dirty="0"/>
                        <a:t>0.8M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约</a:t>
                      </a:r>
                      <a:r>
                        <a:rPr lang="en-US" altLang="zh-CN" sz="1600" dirty="0"/>
                        <a:t>1.6M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66M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5774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b="1" dirty="0"/>
                        <a:t>测试准确率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84.70%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81.10%</a:t>
                      </a:r>
                      <a:endParaRPr lang="zh-CN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/>
                        <a:t>90.00%</a:t>
                      </a:r>
                      <a:endParaRPr lang="zh-CN" alt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8868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19516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12F59-3FEA-1A01-63D3-86540ADDC4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F74CACFB-B532-6864-6839-61E1C937766F}"/>
              </a:ext>
            </a:extLst>
          </p:cNvPr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A8CB866B-A7C2-5822-015F-ED18DD1CEA7E}"/>
              </a:ext>
            </a:extLst>
          </p:cNvPr>
          <p:cNvGrpSpPr/>
          <p:nvPr/>
        </p:nvGrpSpPr>
        <p:grpSpPr>
          <a:xfrm>
            <a:off x="707456" y="983592"/>
            <a:ext cx="11484544" cy="4962818"/>
            <a:chOff x="321009" y="790875"/>
            <a:chExt cx="9128369" cy="5321968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28331FA7-5855-768F-D6A0-99DA1E165D1F}"/>
                </a:ext>
              </a:extLst>
            </p:cNvPr>
            <p:cNvSpPr txBox="1"/>
            <p:nvPr/>
          </p:nvSpPr>
          <p:spPr>
            <a:xfrm>
              <a:off x="321009" y="790875"/>
              <a:ext cx="2999011" cy="4290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zh-CN" sz="2000" dirty="0" err="1">
                  <a:solidFill>
                    <a:srgbClr val="003F87"/>
                  </a:solidFill>
                  <a:latin typeface="微软雅黑"/>
                  <a:ea typeface="微软雅黑"/>
                </a:rPr>
                <a:t>TextCNN</a:t>
              </a:r>
              <a:r>
                <a:rPr lang="zh-CN" altLang="en-US" sz="2000" dirty="0">
                  <a:solidFill>
                    <a:srgbClr val="003F87"/>
                  </a:solidFill>
                  <a:latin typeface="微软雅黑"/>
                  <a:ea typeface="微软雅黑"/>
                </a:rPr>
                <a:t>的结构与超参数调优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AC66A46D-C549-0F9B-8CE0-57B59B97D5C9}"/>
                </a:ext>
              </a:extLst>
            </p:cNvPr>
            <p:cNvSpPr/>
            <p:nvPr/>
          </p:nvSpPr>
          <p:spPr>
            <a:xfrm>
              <a:off x="3928053" y="1306009"/>
              <a:ext cx="5521325" cy="480683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zh-CN" sz="1600" dirty="0"/>
                <a:t>🧱</a:t>
              </a:r>
              <a:r>
                <a:rPr lang="zh-CN" altLang="en-US" sz="1600" b="1" dirty="0"/>
                <a:t>结构简介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嵌入层→多尺寸卷积核</a:t>
              </a:r>
              <a:r>
                <a:rPr lang="en-US" altLang="zh-CN" sz="1600" dirty="0"/>
                <a:t>→</a:t>
              </a:r>
              <a:r>
                <a:rPr lang="zh-CN" altLang="en-US" sz="1600" dirty="0"/>
                <a:t>全局最大池化→拼接→全连接分类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核心思想：用不同大小的窗口扫描文本，自动发现关键短语</a:t>
              </a: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/>
                <a:t>🔬超参数实验（控制变量法）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学习率：</a:t>
              </a:r>
              <a:r>
                <a:rPr lang="en-US" altLang="zh-CN" sz="1600" dirty="0"/>
                <a:t>0.001 </a:t>
              </a:r>
              <a:r>
                <a:rPr lang="zh-CN" altLang="en-US" sz="1600" dirty="0"/>
                <a:t>最优（</a:t>
              </a:r>
              <a:r>
                <a:rPr lang="en-US" altLang="zh-CN" sz="1600" dirty="0"/>
                <a:t>84.5%</a:t>
              </a:r>
              <a:r>
                <a:rPr lang="zh-CN" altLang="en-US" sz="1600" dirty="0"/>
                <a:t>），</a:t>
              </a:r>
              <a:r>
                <a:rPr lang="en-US" altLang="zh-CN" sz="1600" dirty="0"/>
                <a:t>0.01 </a:t>
              </a:r>
              <a:r>
                <a:rPr lang="zh-CN" altLang="en-US" sz="1600" dirty="0"/>
                <a:t>崩溃至 </a:t>
              </a:r>
              <a:r>
                <a:rPr lang="en-US" altLang="zh-CN" sz="1600" dirty="0"/>
                <a:t>68.6%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卷积核组合：</a:t>
              </a:r>
              <a:r>
                <a:rPr lang="en-US" altLang="zh-CN" sz="1600" dirty="0"/>
                <a:t>[3,4,5,6] </a:t>
              </a:r>
              <a:r>
                <a:rPr lang="zh-CN" altLang="en-US" sz="1600" dirty="0"/>
                <a:t>最佳（</a:t>
              </a:r>
              <a:r>
                <a:rPr lang="en-US" altLang="zh-CN" sz="1600" dirty="0"/>
                <a:t>84.6%</a:t>
              </a:r>
              <a:r>
                <a:rPr lang="zh-CN" altLang="en-US" sz="1600" dirty="0"/>
                <a:t>），多粒度互补有效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词向量维度：</a:t>
              </a:r>
              <a:r>
                <a:rPr lang="en-US" altLang="zh-CN" sz="1600" dirty="0"/>
                <a:t>100 </a:t>
              </a:r>
              <a:r>
                <a:rPr lang="zh-CN" altLang="en-US" sz="1600" dirty="0"/>
                <a:t>维足够（</a:t>
              </a:r>
              <a:r>
                <a:rPr lang="en-US" altLang="zh-CN" sz="1600" dirty="0"/>
                <a:t>84.5%</a:t>
              </a:r>
              <a:r>
                <a:rPr lang="zh-CN" altLang="en-US" sz="1600" dirty="0"/>
                <a:t>），再大收益微弱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卷积核数量：</a:t>
              </a:r>
              <a:r>
                <a:rPr lang="en-US" altLang="zh-CN" sz="1600" dirty="0"/>
                <a:t>100 </a:t>
              </a:r>
              <a:r>
                <a:rPr lang="zh-CN" altLang="en-US" sz="1600" dirty="0"/>
                <a:t>个最优，更多反而轻微下降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1600" dirty="0"/>
                <a:t>Dropout</a:t>
              </a:r>
              <a:r>
                <a:rPr lang="zh-CN" altLang="en-US" sz="1600" dirty="0"/>
                <a:t>：</a:t>
              </a:r>
              <a:r>
                <a:rPr lang="en-US" altLang="zh-CN" sz="1600" dirty="0"/>
                <a:t>0.5 </a:t>
              </a:r>
              <a:r>
                <a:rPr lang="zh-CN" altLang="en-US" sz="1600" dirty="0"/>
                <a:t>泛化最佳，</a:t>
              </a:r>
              <a:r>
                <a:rPr lang="en-US" altLang="zh-CN" sz="1600" dirty="0"/>
                <a:t>0.8</a:t>
              </a:r>
              <a:r>
                <a:rPr lang="zh-CN" altLang="en-US" sz="1600" dirty="0"/>
                <a:t>模型表达不足降至 </a:t>
              </a:r>
              <a:r>
                <a:rPr lang="en-US" altLang="zh-CN" sz="1600" dirty="0"/>
                <a:t>79.9%</a:t>
              </a:r>
            </a:p>
            <a:p>
              <a:pPr algn="just">
                <a:lnSpc>
                  <a:spcPct val="150000"/>
                </a:lnSpc>
              </a:pPr>
              <a:r>
                <a:rPr lang="zh-CN" altLang="en-US" sz="1600" b="1" dirty="0"/>
                <a:t>🏆最优配置（</a:t>
              </a:r>
              <a:r>
                <a:rPr lang="en-US" altLang="zh-CN" sz="1600" b="1" dirty="0" err="1"/>
                <a:t>best_combo</a:t>
              </a:r>
              <a:r>
                <a:rPr lang="zh-CN" altLang="en-US" sz="1600" b="1" dirty="0"/>
                <a:t>）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en-US" altLang="zh-CN" sz="1600" dirty="0" err="1"/>
                <a:t>embedding_dim</a:t>
              </a:r>
              <a:r>
                <a:rPr lang="en-US" altLang="zh-CN" sz="1600" dirty="0"/>
                <a:t>=300,  </a:t>
              </a:r>
              <a:r>
                <a:rPr lang="en-US" altLang="zh-CN" sz="1600" dirty="0" err="1"/>
                <a:t>filter_sizes</a:t>
              </a:r>
              <a:r>
                <a:rPr lang="en-US" altLang="zh-CN" sz="1600" dirty="0"/>
                <a:t>=[3,4,5,6],  </a:t>
              </a:r>
              <a:r>
                <a:rPr lang="en-US" altLang="zh-CN" sz="1600" dirty="0" err="1"/>
                <a:t>lr</a:t>
              </a:r>
              <a:r>
                <a:rPr lang="en-US" altLang="zh-CN" sz="1600" dirty="0"/>
                <a:t>=0.001,  dropout=0.5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测试准确率：</a:t>
              </a:r>
              <a:r>
                <a:rPr lang="en-US" altLang="zh-CN" sz="1600" dirty="0"/>
                <a:t>84.7%</a:t>
              </a:r>
              <a:r>
                <a:rPr lang="zh-CN" altLang="en-US" sz="1600" dirty="0"/>
                <a:t>（</a:t>
              </a:r>
              <a:r>
                <a:rPr lang="en-US" altLang="zh-CN" sz="1600" dirty="0" err="1"/>
                <a:t>TextCNN</a:t>
              </a:r>
              <a:r>
                <a:rPr lang="zh-CN" altLang="en-US" sz="1600" dirty="0"/>
                <a:t>最佳）</a:t>
              </a:r>
              <a:endParaRPr lang="en-US" altLang="zh-CN" sz="1600" dirty="0"/>
            </a:p>
          </p:txBody>
        </p:sp>
      </p:grpSp>
      <p:pic>
        <p:nvPicPr>
          <p:cNvPr id="41" name="图形 40">
            <a:extLst>
              <a:ext uri="{FF2B5EF4-FFF2-40B4-BE49-F238E27FC236}">
                <a16:creationId xmlns:a16="http://schemas.microsoft.com/office/drawing/2014/main" id="{4E71A351-B32D-71D8-8931-506155AB94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2EA1BC5B-1DC6-211E-5D32-8F741DA8A3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580" y="1631468"/>
            <a:ext cx="4403139" cy="4314940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43457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A492D5-3F49-18FE-B298-BEDED4C01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33B7D4CC-B7B5-9927-6AA9-863D5073E47B}"/>
              </a:ext>
            </a:extLst>
          </p:cNvPr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01A7DEC7-3F18-52EC-1E2F-E536859B74A2}"/>
              </a:ext>
            </a:extLst>
          </p:cNvPr>
          <p:cNvSpPr/>
          <p:nvPr/>
        </p:nvSpPr>
        <p:spPr>
          <a:xfrm>
            <a:off x="6096000" y="1595538"/>
            <a:ext cx="6053698" cy="4395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600" b="1" dirty="0"/>
              <a:t>🔍</a:t>
            </a:r>
            <a:r>
              <a:rPr lang="zh-CN" altLang="en-US" sz="1600" b="1" dirty="0"/>
              <a:t>核心数据</a:t>
            </a:r>
            <a:endParaRPr lang="en-US" altLang="zh-CN" sz="1600" b="1" dirty="0"/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/>
              <a:t>LSTM </a:t>
            </a:r>
            <a:r>
              <a:rPr lang="zh-CN" altLang="en-US" sz="1400" dirty="0"/>
              <a:t>测试准确率：</a:t>
            </a:r>
            <a:r>
              <a:rPr lang="en-US" altLang="zh-CN" sz="1400" dirty="0"/>
              <a:t>54.0%</a:t>
            </a:r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 err="1"/>
              <a:t>BiLSTM</a:t>
            </a:r>
            <a:r>
              <a:rPr lang="en-US" altLang="zh-CN" sz="1400" dirty="0"/>
              <a:t> </a:t>
            </a:r>
            <a:r>
              <a:rPr lang="zh-CN" altLang="en-US" sz="1400" dirty="0"/>
              <a:t>测试准确率：</a:t>
            </a:r>
            <a:r>
              <a:rPr lang="en-US" altLang="zh-CN" sz="1400" dirty="0"/>
              <a:t>55.1%</a:t>
            </a:r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均为随机猜测水平，且完全不可靠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b="1" dirty="0"/>
              <a:t>❓为什么失效？</a:t>
            </a:r>
            <a:endParaRPr lang="zh-CN" altLang="en-US" sz="1400" dirty="0"/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/>
              <a:t>词向量完全随机</a:t>
            </a:r>
          </a:p>
          <a:p>
            <a:pPr marL="576000" algn="just">
              <a:lnSpc>
                <a:spcPct val="150000"/>
              </a:lnSpc>
            </a:pPr>
            <a:r>
              <a:rPr lang="zh-CN" altLang="en-US" sz="1400" dirty="0"/>
              <a:t>模型连单词都不认识，无法获取语义信息</a:t>
            </a:r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b="1" dirty="0"/>
              <a:t>RNN </a:t>
            </a:r>
            <a:r>
              <a:rPr lang="zh-CN" altLang="en-US" sz="1400" b="1" dirty="0"/>
              <a:t>训练困难</a:t>
            </a:r>
          </a:p>
          <a:p>
            <a:pPr marL="576000" algn="just">
              <a:lnSpc>
                <a:spcPct val="150000"/>
              </a:lnSpc>
            </a:pPr>
            <a:r>
              <a:rPr lang="zh-CN" altLang="en-US" sz="1400" dirty="0"/>
              <a:t>单层结构容量低，梯度传播混乱，难以学到规律</a:t>
            </a:r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/>
              <a:t>陷入“投机取巧”</a:t>
            </a:r>
          </a:p>
          <a:p>
            <a:pPr marL="576000" algn="just">
              <a:lnSpc>
                <a:spcPct val="150000"/>
              </a:lnSpc>
            </a:pPr>
            <a:r>
              <a:rPr lang="zh-CN" altLang="en-US" sz="1400" dirty="0"/>
              <a:t>模型发现全猜负面也能得到 </a:t>
            </a:r>
            <a:r>
              <a:rPr lang="en-US" altLang="zh-CN" sz="1400" dirty="0"/>
              <a:t>50% </a:t>
            </a:r>
            <a:r>
              <a:rPr lang="zh-CN" altLang="en-US" sz="1400" dirty="0"/>
              <a:t>准确率，不再费力学习正面特征</a:t>
            </a:r>
          </a:p>
          <a:p>
            <a:pPr algn="just">
              <a:lnSpc>
                <a:spcPct val="150000"/>
              </a:lnSpc>
            </a:pPr>
            <a:r>
              <a:rPr lang="zh-CN" altLang="zh-CN" sz="1600" b="1" dirty="0"/>
              <a:t>🎯</a:t>
            </a:r>
            <a:r>
              <a:rPr lang="zh-CN" altLang="en-US" sz="1600" b="1" dirty="0"/>
              <a:t>结论</a:t>
            </a:r>
          </a:p>
          <a:p>
            <a:pPr algn="just">
              <a:lnSpc>
                <a:spcPct val="150000"/>
              </a:lnSpc>
            </a:pPr>
            <a:r>
              <a:rPr lang="zh-CN" altLang="en-US" sz="1400" dirty="0"/>
              <a:t>     这并非普通的欠拟合，而是训练崩溃</a:t>
            </a:r>
            <a:r>
              <a:rPr lang="en-US" altLang="zh-CN" sz="1400" dirty="0"/>
              <a:t>——</a:t>
            </a:r>
            <a:r>
              <a:rPr lang="zh-CN" altLang="en-US" sz="1400" dirty="0"/>
              <a:t>模型坠入了一个错误的舒适区</a:t>
            </a:r>
            <a:endParaRPr lang="zh-CN" altLang="zh-CN" sz="1400" dirty="0"/>
          </a:p>
        </p:txBody>
      </p:sp>
      <p:pic>
        <p:nvPicPr>
          <p:cNvPr id="41" name="图形 40">
            <a:extLst>
              <a:ext uri="{FF2B5EF4-FFF2-40B4-BE49-F238E27FC236}">
                <a16:creationId xmlns:a16="http://schemas.microsoft.com/office/drawing/2014/main" id="{14F6B052-10AF-D669-78EC-60F1B5B20EE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8927C114-45F6-9D5D-DB99-D172AFBD1A88}"/>
              </a:ext>
            </a:extLst>
          </p:cNvPr>
          <p:cNvSpPr txBox="1"/>
          <p:nvPr/>
        </p:nvSpPr>
        <p:spPr>
          <a:xfrm>
            <a:off x="300941" y="867092"/>
            <a:ext cx="8609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003F87"/>
                </a:solidFill>
                <a:latin typeface="微软雅黑"/>
                <a:ea typeface="微软雅黑"/>
              </a:rPr>
              <a:t>RNN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模型与词向量实验</a:t>
            </a:r>
            <a:r>
              <a:rPr lang="en-US" altLang="zh-CN" sz="2000" dirty="0">
                <a:solidFill>
                  <a:srgbClr val="003F87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随机初始化：</a:t>
            </a:r>
            <a:r>
              <a:rPr lang="en-US" altLang="zh-CN" sz="2000" dirty="0">
                <a:solidFill>
                  <a:srgbClr val="003F87"/>
                </a:solidFill>
                <a:latin typeface="微软雅黑"/>
                <a:ea typeface="微软雅黑"/>
              </a:rPr>
              <a:t>LSTM/</a:t>
            </a:r>
            <a:r>
              <a:rPr lang="en-US" altLang="zh-CN" sz="2000" dirty="0" err="1">
                <a:solidFill>
                  <a:srgbClr val="003F87"/>
                </a:solidFill>
                <a:latin typeface="微软雅黑"/>
                <a:ea typeface="微软雅黑"/>
              </a:rPr>
              <a:t>BiLSTM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为何失效？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449548E0-DF04-FE54-C442-F8090CE6D05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0250" y="1337240"/>
            <a:ext cx="5274310" cy="1758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F1B6A84-5A6B-C0F9-1A93-67C9E579082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5" t="5735" r="7814" b="1806"/>
          <a:stretch>
            <a:fillRect/>
          </a:stretch>
        </p:blipFill>
        <p:spPr bwMode="auto">
          <a:xfrm>
            <a:off x="1309598" y="3165593"/>
            <a:ext cx="3955613" cy="34662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53647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B2DD2-2D9D-0D98-3CB8-97DBBEBC64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0E015C5-2C0B-52B2-CC87-B834CC5137B1}"/>
              </a:ext>
            </a:extLst>
          </p:cNvPr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4C09E973-C10F-24BB-5C9A-249FC6789692}"/>
              </a:ext>
            </a:extLst>
          </p:cNvPr>
          <p:cNvSpPr/>
          <p:nvPr/>
        </p:nvSpPr>
        <p:spPr>
          <a:xfrm>
            <a:off x="6096000" y="1595538"/>
            <a:ext cx="5709920" cy="4395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zh-CN" sz="1600" b="1" dirty="0"/>
              <a:t>🔍</a:t>
            </a:r>
            <a:r>
              <a:rPr lang="zh-CN" altLang="en-US" sz="1600" b="1" dirty="0"/>
              <a:t>核心数据</a:t>
            </a:r>
            <a:endParaRPr lang="en-US" altLang="zh-CN" sz="1600" b="1" dirty="0"/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zh-CN" sz="1400" dirty="0"/>
              <a:t>BiLSTM+GloVe </a:t>
            </a:r>
            <a:r>
              <a:rPr lang="zh-CN" altLang="en-US" sz="1400" dirty="0"/>
              <a:t>测试准确率：</a:t>
            </a:r>
            <a:r>
              <a:rPr lang="en-US" altLang="zh-CN" sz="1400" dirty="0"/>
              <a:t>81.1%</a:t>
            </a:r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dirty="0"/>
              <a:t>相比随机版本（</a:t>
            </a:r>
            <a:r>
              <a:rPr lang="en-US" altLang="zh-CN" sz="1400" dirty="0"/>
              <a:t>55.1%</a:t>
            </a:r>
            <a:r>
              <a:rPr lang="zh-CN" altLang="en-US" sz="1400" dirty="0"/>
              <a:t>），提升</a:t>
            </a:r>
            <a:r>
              <a:rPr lang="en-US" altLang="zh-CN" sz="1400" dirty="0"/>
              <a:t>26</a:t>
            </a:r>
            <a:r>
              <a:rPr lang="zh-CN" altLang="en-US" sz="1400" dirty="0"/>
              <a:t>个百分点</a:t>
            </a:r>
          </a:p>
          <a:p>
            <a:pPr algn="just">
              <a:lnSpc>
                <a:spcPct val="150000"/>
              </a:lnSpc>
            </a:pPr>
            <a:r>
              <a:rPr lang="zh-CN" altLang="en-US" sz="1600" b="1" dirty="0"/>
              <a:t>✅为什么 </a:t>
            </a:r>
            <a:r>
              <a:rPr lang="en-US" altLang="zh-CN" sz="1600" b="1" dirty="0" err="1"/>
              <a:t>GloVe</a:t>
            </a:r>
            <a:r>
              <a:rPr lang="en-US" altLang="zh-CN" sz="1600" b="1" dirty="0"/>
              <a:t> </a:t>
            </a:r>
            <a:r>
              <a:rPr lang="zh-CN" altLang="en-US" sz="1600" b="1" dirty="0"/>
              <a:t>能成功？</a:t>
            </a:r>
            <a:endParaRPr lang="zh-CN" altLang="en-US" sz="1400" dirty="0"/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/>
              <a:t>预训练词向量带来词汇知识</a:t>
            </a:r>
          </a:p>
          <a:p>
            <a:pPr marL="576000" algn="just">
              <a:lnSpc>
                <a:spcPct val="150000"/>
              </a:lnSpc>
            </a:pPr>
            <a:r>
              <a:rPr lang="en-US" altLang="zh-CN" sz="1400" dirty="0" err="1"/>
              <a:t>GloVe</a:t>
            </a:r>
            <a:r>
              <a:rPr lang="zh-CN" altLang="en-US" sz="1400" dirty="0"/>
              <a:t>已经学会了</a:t>
            </a:r>
            <a:r>
              <a:rPr lang="en-US" altLang="zh-CN" sz="1400" dirty="0"/>
              <a:t>good</a:t>
            </a:r>
            <a:r>
              <a:rPr lang="zh-CN" altLang="en-US" sz="1400" dirty="0"/>
              <a:t>与</a:t>
            </a:r>
            <a:r>
              <a:rPr lang="en-US" altLang="zh-CN" sz="1400" dirty="0"/>
              <a:t>great</a:t>
            </a:r>
            <a:r>
              <a:rPr lang="zh-CN" altLang="en-US" sz="1400" dirty="0"/>
              <a:t>语义相近，</a:t>
            </a:r>
            <a:r>
              <a:rPr lang="en-US" altLang="zh-CN" sz="1400" dirty="0"/>
              <a:t>good</a:t>
            </a:r>
            <a:r>
              <a:rPr lang="zh-CN" altLang="en-US" sz="1400" dirty="0"/>
              <a:t>与</a:t>
            </a:r>
            <a:r>
              <a:rPr lang="en-US" altLang="zh-CN" sz="1400" dirty="0"/>
              <a:t>bad</a:t>
            </a:r>
            <a:r>
              <a:rPr lang="zh-CN" altLang="en-US" sz="1400" dirty="0"/>
              <a:t>相反</a:t>
            </a:r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/>
              <a:t>模型不再从零学词义，只需组合语义</a:t>
            </a:r>
          </a:p>
          <a:p>
            <a:pPr marL="576000" algn="just">
              <a:lnSpc>
                <a:spcPct val="150000"/>
              </a:lnSpc>
            </a:pPr>
            <a:r>
              <a:rPr lang="zh-CN" altLang="en-US" sz="1400" dirty="0"/>
              <a:t>节省了大量训练成本，避免陷入全猜负面的投机策略</a:t>
            </a:r>
          </a:p>
          <a:p>
            <a:pPr marL="57600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400" b="1" dirty="0"/>
              <a:t>初始化质量 </a:t>
            </a:r>
            <a:r>
              <a:rPr lang="en-US" altLang="zh-CN" sz="1400" b="1" dirty="0"/>
              <a:t>+ </a:t>
            </a:r>
            <a:r>
              <a:rPr lang="zh-CN" altLang="en-US" sz="1400" b="1" dirty="0"/>
              <a:t>双向结构</a:t>
            </a:r>
          </a:p>
          <a:p>
            <a:pPr marL="576000" algn="just">
              <a:lnSpc>
                <a:spcPct val="150000"/>
              </a:lnSpc>
            </a:pPr>
            <a:r>
              <a:rPr lang="zh-CN" altLang="en-US" sz="1400" dirty="0"/>
              <a:t>双向</a:t>
            </a:r>
            <a:r>
              <a:rPr lang="en-US" altLang="zh-CN" sz="1400" dirty="0"/>
              <a:t>LSTM</a:t>
            </a:r>
            <a:r>
              <a:rPr lang="zh-CN" altLang="en-US" sz="1400" dirty="0"/>
              <a:t>能捕捉上下文，配合有意义的词向量，性能大幅提升</a:t>
            </a:r>
          </a:p>
          <a:p>
            <a:pPr algn="just">
              <a:lnSpc>
                <a:spcPct val="150000"/>
              </a:lnSpc>
            </a:pPr>
            <a:r>
              <a:rPr lang="zh-CN" altLang="zh-CN" sz="1600" b="1" dirty="0"/>
              <a:t>🎯</a:t>
            </a:r>
            <a:r>
              <a:rPr lang="zh-CN" altLang="en-US" sz="1600" b="1" dirty="0"/>
              <a:t>结论</a:t>
            </a:r>
          </a:p>
          <a:p>
            <a:pPr algn="just">
              <a:lnSpc>
                <a:spcPct val="150000"/>
              </a:lnSpc>
            </a:pPr>
            <a:r>
              <a:rPr lang="zh-CN" altLang="en-US" sz="1400" dirty="0"/>
              <a:t>     同样的</a:t>
            </a:r>
            <a:r>
              <a:rPr lang="en-US" altLang="zh-CN" sz="1400" dirty="0"/>
              <a:t>RNN</a:t>
            </a:r>
            <a:r>
              <a:rPr lang="zh-CN" altLang="en-US" sz="1400" dirty="0"/>
              <a:t>架构，仅改变词向量初始化方式，就实现了从完全失效到可用的跨越，充分说明词向量质量是</a:t>
            </a:r>
            <a:r>
              <a:rPr lang="en-US" altLang="zh-CN" sz="1400" dirty="0"/>
              <a:t>RNN</a:t>
            </a:r>
            <a:r>
              <a:rPr lang="zh-CN" altLang="en-US" sz="1400" dirty="0"/>
              <a:t>的生命线。</a:t>
            </a:r>
            <a:endParaRPr lang="zh-CN" altLang="zh-CN" sz="1400" dirty="0"/>
          </a:p>
        </p:txBody>
      </p:sp>
      <p:pic>
        <p:nvPicPr>
          <p:cNvPr id="41" name="图形 40">
            <a:extLst>
              <a:ext uri="{FF2B5EF4-FFF2-40B4-BE49-F238E27FC236}">
                <a16:creationId xmlns:a16="http://schemas.microsoft.com/office/drawing/2014/main" id="{674C4867-0830-255B-B1FB-D859423936C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3E63549-B326-590D-666B-C075BD1C4DAB}"/>
              </a:ext>
            </a:extLst>
          </p:cNvPr>
          <p:cNvSpPr txBox="1"/>
          <p:nvPr/>
        </p:nvSpPr>
        <p:spPr>
          <a:xfrm>
            <a:off x="-115619" y="829782"/>
            <a:ext cx="860937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>
                <a:solidFill>
                  <a:srgbClr val="003F87"/>
                </a:solidFill>
                <a:latin typeface="微软雅黑"/>
                <a:ea typeface="微软雅黑"/>
              </a:rPr>
              <a:t>RNN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模型与词向量实验</a:t>
            </a:r>
            <a:r>
              <a:rPr lang="en-US" altLang="zh-CN" sz="2000" dirty="0">
                <a:solidFill>
                  <a:srgbClr val="003F87"/>
                </a:solidFill>
                <a:latin typeface="微软雅黑"/>
                <a:ea typeface="微软雅黑"/>
              </a:rPr>
              <a:t>——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引入 </a:t>
            </a:r>
            <a:r>
              <a:rPr lang="en-US" altLang="zh-CN" sz="2000" dirty="0" err="1">
                <a:solidFill>
                  <a:srgbClr val="003F87"/>
                </a:solidFill>
                <a:latin typeface="微软雅黑"/>
                <a:ea typeface="微软雅黑"/>
              </a:rPr>
              <a:t>GloVe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：</a:t>
            </a:r>
            <a:r>
              <a:rPr lang="en-US" altLang="zh-CN" sz="2000" dirty="0" err="1">
                <a:solidFill>
                  <a:srgbClr val="003F87"/>
                </a:solidFill>
                <a:latin typeface="微软雅黑"/>
                <a:ea typeface="微软雅黑"/>
              </a:rPr>
              <a:t>BiLSTM</a:t>
            </a:r>
            <a:r>
              <a:rPr lang="en-US" altLang="zh-CN" sz="2000" dirty="0">
                <a:solidFill>
                  <a:srgbClr val="003F87"/>
                </a:solidFill>
                <a:latin typeface="微软雅黑"/>
                <a:ea typeface="微软雅黑"/>
              </a:rPr>
              <a:t> 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性能跃升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358F56F3-43A7-2D5E-CDC2-999167AA51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845" y="1313371"/>
            <a:ext cx="5274310" cy="1758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08E8E3CF-93DA-950E-D2A0-5ED66C165F3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00" t="6333" r="6000" b="1667"/>
          <a:stretch>
            <a:fillRect/>
          </a:stretch>
        </p:blipFill>
        <p:spPr bwMode="auto">
          <a:xfrm>
            <a:off x="1443716" y="3155165"/>
            <a:ext cx="3716568" cy="341134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11359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FB1533-DBA9-2771-1278-9B4489C91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7EF8D2C-9840-D973-67A9-302C01B6E9BB}"/>
              </a:ext>
            </a:extLst>
          </p:cNvPr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6D8F3471-02EF-EE5A-3DCB-595133E41CFC}"/>
              </a:ext>
            </a:extLst>
          </p:cNvPr>
          <p:cNvGrpSpPr/>
          <p:nvPr/>
        </p:nvGrpSpPr>
        <p:grpSpPr>
          <a:xfrm>
            <a:off x="341406" y="1537706"/>
            <a:ext cx="7731380" cy="2635786"/>
            <a:chOff x="-79461" y="152193"/>
            <a:chExt cx="3540204" cy="2826540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5098BEA8-9BA7-984E-0CD8-096FCA6A2595}"/>
                </a:ext>
              </a:extLst>
            </p:cNvPr>
            <p:cNvSpPr txBox="1"/>
            <p:nvPr/>
          </p:nvSpPr>
          <p:spPr>
            <a:xfrm>
              <a:off x="-79461" y="152193"/>
              <a:ext cx="1452995" cy="39606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📋模型配置与性能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B5FE2EB8-B86D-290E-74B1-615B19927138}"/>
                </a:ext>
              </a:extLst>
            </p:cNvPr>
            <p:cNvSpPr/>
            <p:nvPr/>
          </p:nvSpPr>
          <p:spPr>
            <a:xfrm>
              <a:off x="267566" y="548254"/>
              <a:ext cx="3193177" cy="243047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模型：</a:t>
              </a:r>
              <a:r>
                <a:rPr lang="en-US" altLang="zh-CN" sz="1600" dirty="0" err="1"/>
                <a:t>DistilBERT</a:t>
              </a:r>
              <a:r>
                <a:rPr lang="zh-CN" altLang="en-US" sz="1600" dirty="0"/>
                <a:t>（</a:t>
              </a:r>
              <a:r>
                <a:rPr lang="en-US" altLang="zh-CN" sz="1600" dirty="0"/>
                <a:t>BERT </a:t>
              </a:r>
              <a:r>
                <a:rPr lang="zh-CN" altLang="en-US" sz="1600" dirty="0"/>
                <a:t>的蒸馏版），动态上下文词向量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微调设置：</a:t>
              </a:r>
              <a:r>
                <a:rPr lang="en-US" altLang="zh-CN" sz="1600" dirty="0"/>
                <a:t>2 </a:t>
              </a:r>
              <a:r>
                <a:rPr lang="zh-CN" altLang="en-US" sz="1600" dirty="0"/>
                <a:t>个 </a:t>
              </a:r>
              <a:r>
                <a:rPr lang="en-US" altLang="zh-CN" sz="1600" dirty="0"/>
                <a:t>epoch</a:t>
              </a:r>
              <a:r>
                <a:rPr lang="zh-CN" altLang="en-US" sz="1600" dirty="0"/>
                <a:t>，学习率 </a:t>
              </a:r>
              <a:r>
                <a:rPr lang="en-US" altLang="zh-CN" sz="1600" dirty="0"/>
                <a:t>2e‑5</a:t>
              </a:r>
              <a:r>
                <a:rPr lang="zh-CN" altLang="en-US" sz="1600" dirty="0"/>
                <a:t>，批大小 </a:t>
              </a:r>
              <a:r>
                <a:rPr lang="en-US" altLang="zh-CN" sz="1600" dirty="0"/>
                <a:t>16</a:t>
              </a:r>
              <a:r>
                <a:rPr lang="zh-CN" altLang="en-US" sz="1600" dirty="0"/>
                <a:t>，最大长度 </a:t>
              </a:r>
              <a:r>
                <a:rPr lang="en-US" altLang="zh-CN" sz="1600" dirty="0"/>
                <a:t>200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训练时间：约 </a:t>
              </a:r>
              <a:r>
                <a:rPr lang="en-US" altLang="zh-CN" sz="1600" dirty="0"/>
                <a:t>3 </a:t>
              </a:r>
              <a:r>
                <a:rPr lang="zh-CN" altLang="en-US" sz="1600" dirty="0"/>
                <a:t>小时（纯 </a:t>
              </a:r>
              <a:r>
                <a:rPr lang="en-US" altLang="zh-CN" sz="1600" dirty="0"/>
                <a:t>CPU</a:t>
              </a:r>
              <a:r>
                <a:rPr lang="zh-CN" altLang="en-US" sz="1600" dirty="0"/>
                <a:t>）</a:t>
              </a:r>
            </a:p>
            <a:p>
              <a:pPr marL="285750" indent="-285750" algn="just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1600" dirty="0"/>
                <a:t>测试结果：准确率 </a:t>
              </a:r>
              <a:r>
                <a:rPr lang="en-US" altLang="zh-CN" sz="1600" dirty="0"/>
                <a:t>90.0%</a:t>
              </a:r>
              <a:r>
                <a:rPr lang="zh-CN" altLang="en-US" sz="1600" dirty="0"/>
                <a:t>，精确率、召回率、</a:t>
              </a:r>
              <a:r>
                <a:rPr lang="en-US" altLang="zh-CN" sz="1600" dirty="0"/>
                <a:t>F1 </a:t>
              </a:r>
              <a:r>
                <a:rPr lang="zh-CN" altLang="en-US" sz="1600" dirty="0"/>
                <a:t>值均稳定在 </a:t>
              </a:r>
              <a:r>
                <a:rPr lang="en-US" altLang="zh-CN" sz="1600" dirty="0"/>
                <a:t>0.90</a:t>
              </a:r>
              <a:endParaRPr lang="zh-CN" altLang="zh-CN" sz="1600" dirty="0"/>
            </a:p>
          </p:txBody>
        </p:sp>
      </p:grpSp>
      <p:pic>
        <p:nvPicPr>
          <p:cNvPr id="41" name="图形 40">
            <a:extLst>
              <a:ext uri="{FF2B5EF4-FFF2-40B4-BE49-F238E27FC236}">
                <a16:creationId xmlns:a16="http://schemas.microsoft.com/office/drawing/2014/main" id="{8EB8422B-3DC6-87A1-FCB7-B15432176E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BCFF3CB9-A96A-BAD1-6B9B-EAFA790636D9}"/>
              </a:ext>
            </a:extLst>
          </p:cNvPr>
          <p:cNvSpPr/>
          <p:nvPr/>
        </p:nvSpPr>
        <p:spPr>
          <a:xfrm>
            <a:off x="1099271" y="3990028"/>
            <a:ext cx="5833335" cy="789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对角线两个大数值：正面</a:t>
            </a:r>
            <a:r>
              <a:rPr lang="en-US" altLang="zh-CN" sz="1600" dirty="0"/>
              <a:t>/</a:t>
            </a:r>
            <a:r>
              <a:rPr lang="zh-CN" altLang="en-US" sz="1600" dirty="0"/>
              <a:t>负面均约</a:t>
            </a:r>
            <a:r>
              <a:rPr lang="en-US" altLang="zh-CN" sz="1600" dirty="0"/>
              <a:t>89%~91%</a:t>
            </a:r>
            <a:r>
              <a:rPr lang="zh-CN" altLang="en-US" sz="1600" dirty="0"/>
              <a:t>被正确分类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zh-CN" altLang="en-US" sz="1600" dirty="0"/>
              <a:t>反对角线两个小数值：误判均匀分配，模型无偏向</a:t>
            </a:r>
            <a:endParaRPr lang="zh-CN" altLang="zh-CN" sz="16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BA5190-689C-CD1C-5C26-B0F1C2C7CEB8}"/>
              </a:ext>
            </a:extLst>
          </p:cNvPr>
          <p:cNvSpPr txBox="1"/>
          <p:nvPr/>
        </p:nvSpPr>
        <p:spPr>
          <a:xfrm>
            <a:off x="0" y="857830"/>
            <a:ext cx="485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2000" dirty="0" err="1">
                <a:solidFill>
                  <a:srgbClr val="003F87"/>
                </a:solidFill>
                <a:latin typeface="微软雅黑"/>
                <a:ea typeface="微软雅黑"/>
              </a:rPr>
              <a:t>DistilBERT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：预训练模型微调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227B4CA-1514-F7CB-55FA-99BF3ADF961F}"/>
              </a:ext>
            </a:extLst>
          </p:cNvPr>
          <p:cNvSpPr txBox="1"/>
          <p:nvPr/>
        </p:nvSpPr>
        <p:spPr>
          <a:xfrm>
            <a:off x="793284" y="3601802"/>
            <a:ext cx="20718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kumimoji="0" lang="zh-CN" altLang="en-US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🔍混淆矩阵分析</a:t>
            </a:r>
            <a:endParaRPr kumimoji="0" lang="zh-CN" altLang="en-US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06D0E2C4-49D1-B720-5965-C331A1B05B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4" t="2990" r="4437"/>
          <a:stretch>
            <a:fillRect/>
          </a:stretch>
        </p:blipFill>
        <p:spPr>
          <a:xfrm>
            <a:off x="7447280" y="1211524"/>
            <a:ext cx="4257040" cy="443495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663895E3-A3B0-35D4-1A82-CF43F15C244C}"/>
              </a:ext>
            </a:extLst>
          </p:cNvPr>
          <p:cNvSpPr txBox="1"/>
          <p:nvPr/>
        </p:nvSpPr>
        <p:spPr>
          <a:xfrm>
            <a:off x="946884" y="5193657"/>
            <a:ext cx="6652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zh-CN" b="1" dirty="0"/>
              <a:t>预训练语言模型仅需少量微调，便远超从头训练的CNN/RNN。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575727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2FE80-7C50-EAF9-F518-4B4D388A1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5CAD73F-E30E-1A5C-4386-2FE88E45658D}"/>
              </a:ext>
            </a:extLst>
          </p:cNvPr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30BA9AA1-FD4A-0FFA-A365-E927FDF6907F}"/>
              </a:ext>
            </a:extLst>
          </p:cNvPr>
          <p:cNvGrpSpPr/>
          <p:nvPr/>
        </p:nvGrpSpPr>
        <p:grpSpPr>
          <a:xfrm>
            <a:off x="-1065274" y="1398940"/>
            <a:ext cx="9603721" cy="3777314"/>
            <a:chOff x="-392608" y="-485730"/>
            <a:chExt cx="2693435" cy="4050668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118E7CE3-6FB6-9A25-7320-EFF4F6828DA5}"/>
                </a:ext>
              </a:extLst>
            </p:cNvPr>
            <p:cNvSpPr txBox="1"/>
            <p:nvPr/>
          </p:nvSpPr>
          <p:spPr>
            <a:xfrm>
              <a:off x="-392608" y="-485730"/>
              <a:ext cx="1396490" cy="396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"/>
                  <a:ea typeface="微软雅黑"/>
                </a:rPr>
                <a:t>核心功能</a:t>
              </a: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EFB3DFB2-16DA-0082-C685-D31F3FFFA9F9}"/>
                </a:ext>
              </a:extLst>
            </p:cNvPr>
            <p:cNvSpPr/>
            <p:nvPr/>
          </p:nvSpPr>
          <p:spPr>
            <a:xfrm>
              <a:off x="238460" y="-53712"/>
              <a:ext cx="2062367" cy="361865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1600" dirty="0"/>
                <a:t>📥 输入任意英文影评：支持任意长度的英文文本输入</a:t>
              </a:r>
            </a:p>
            <a:p>
              <a:pPr algn="just">
                <a:lnSpc>
                  <a:spcPct val="150000"/>
                </a:lnSpc>
              </a:pPr>
              <a:r>
                <a:rPr lang="zh-CN" altLang="en-US" sz="1600" dirty="0"/>
                <a:t>🤖 三模型同步预测：</a:t>
              </a:r>
              <a:r>
                <a:rPr lang="en-US" altLang="zh-CN" sz="1600" dirty="0" err="1"/>
                <a:t>TextCNN</a:t>
              </a:r>
              <a:r>
                <a:rPr lang="zh-CN" altLang="en-US" sz="1600" dirty="0"/>
                <a:t>、</a:t>
              </a:r>
              <a:r>
                <a:rPr lang="en-US" altLang="zh-CN" sz="1600" dirty="0"/>
                <a:t>BiLSTM+GloVe</a:t>
              </a:r>
              <a:r>
                <a:rPr lang="zh-CN" altLang="en-US" sz="1600" dirty="0"/>
                <a:t>、</a:t>
              </a:r>
              <a:r>
                <a:rPr lang="en-US" altLang="zh-CN" sz="1600" dirty="0" err="1"/>
                <a:t>DistilBERT</a:t>
              </a:r>
              <a:r>
                <a:rPr lang="en-US" altLang="zh-CN" sz="1600" dirty="0"/>
                <a:t> </a:t>
              </a:r>
              <a:r>
                <a:rPr lang="zh-CN" altLang="en-US" sz="1600" dirty="0"/>
                <a:t>同时给出情感判断</a:t>
              </a:r>
            </a:p>
            <a:p>
              <a:pPr algn="just">
                <a:lnSpc>
                  <a:spcPct val="150000"/>
                </a:lnSpc>
              </a:pPr>
              <a:r>
                <a:rPr lang="zh-CN" altLang="en-US" sz="1600" dirty="0"/>
                <a:t>📊 输出标签与置信度：展示每个模型的预测类别（正面</a:t>
              </a:r>
              <a:r>
                <a:rPr lang="en-US" altLang="zh-CN" sz="1600" dirty="0"/>
                <a:t>/</a:t>
              </a:r>
              <a:r>
                <a:rPr lang="zh-CN" altLang="en-US" sz="1600" dirty="0"/>
                <a:t>负面）及对应概率</a:t>
              </a:r>
            </a:p>
            <a:p>
              <a:pPr algn="just">
                <a:lnSpc>
                  <a:spcPct val="150000"/>
                </a:lnSpc>
              </a:pPr>
              <a:r>
                <a:rPr lang="zh-CN" altLang="en-US" sz="1600" dirty="0"/>
                <a:t>🧪 三大架构同台对比：</a:t>
              </a:r>
              <a:r>
                <a:rPr lang="en-US" altLang="zh-CN" sz="1600" dirty="0"/>
                <a:t>CNN / RNN / Transformer </a:t>
              </a:r>
              <a:r>
                <a:rPr lang="zh-CN" altLang="en-US" sz="1600" dirty="0"/>
                <a:t>在同一界面直观比较</a:t>
              </a:r>
            </a:p>
            <a:p>
              <a:pPr algn="just">
                <a:lnSpc>
                  <a:spcPct val="150000"/>
                </a:lnSpc>
              </a:pPr>
              <a:r>
                <a:rPr lang="zh-CN" altLang="en-US" sz="1600" dirty="0"/>
                <a:t>⚡ 实时响应：输入后即时返回结果，无需等待</a:t>
              </a:r>
            </a:p>
            <a:p>
              <a:pPr algn="just">
                <a:lnSpc>
                  <a:spcPct val="150000"/>
                </a:lnSpc>
              </a:pPr>
              <a:endParaRPr lang="zh-CN" altLang="zh-CN" sz="1600" dirty="0"/>
            </a:p>
          </p:txBody>
        </p:sp>
      </p:grpSp>
      <p:pic>
        <p:nvPicPr>
          <p:cNvPr id="41" name="图形 40">
            <a:extLst>
              <a:ext uri="{FF2B5EF4-FFF2-40B4-BE49-F238E27FC236}">
                <a16:creationId xmlns:a16="http://schemas.microsoft.com/office/drawing/2014/main" id="{E1928185-C83C-509C-1B2F-49ACA9D9A06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2FD70A0-0DA3-FC30-0BF8-ABF412F249CF}"/>
              </a:ext>
            </a:extLst>
          </p:cNvPr>
          <p:cNvSpPr txBox="1"/>
          <p:nvPr/>
        </p:nvSpPr>
        <p:spPr>
          <a:xfrm>
            <a:off x="0" y="857830"/>
            <a:ext cx="51278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基于 </a:t>
            </a:r>
            <a:r>
              <a:rPr lang="en-US" altLang="zh-CN" sz="2000" dirty="0" err="1">
                <a:solidFill>
                  <a:srgbClr val="003F87"/>
                </a:solidFill>
                <a:latin typeface="微软雅黑"/>
                <a:ea typeface="微软雅黑"/>
              </a:rPr>
              <a:t>Gradio</a:t>
            </a:r>
            <a:r>
              <a:rPr lang="en-US" altLang="zh-CN" sz="2000" dirty="0">
                <a:solidFill>
                  <a:srgbClr val="003F87"/>
                </a:solidFill>
                <a:latin typeface="微软雅黑"/>
                <a:ea typeface="微软雅黑"/>
              </a:rPr>
              <a:t> </a:t>
            </a: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的三模型实时情感预测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B4D0B872-7AB7-1BF1-D950-3038E3D70E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318"/>
          <a:stretch>
            <a:fillRect/>
          </a:stretch>
        </p:blipFill>
        <p:spPr>
          <a:xfrm>
            <a:off x="6280659" y="3878343"/>
            <a:ext cx="5400000" cy="241549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8ADE8E9-09B0-0F5E-B163-69BAA8A3E2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1341" y="3881983"/>
            <a:ext cx="5400000" cy="24154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9939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4C38D-FB7C-7419-0B1B-810545805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040CDB06-4869-E949-7113-82485AC2DF0B}"/>
              </a:ext>
            </a:extLst>
          </p:cNvPr>
          <p:cNvSpPr/>
          <p:nvPr/>
        </p:nvSpPr>
        <p:spPr>
          <a:xfrm>
            <a:off x="1" y="481263"/>
            <a:ext cx="12192000" cy="72000"/>
          </a:xfrm>
          <a:prstGeom prst="rect">
            <a:avLst/>
          </a:prstGeom>
          <a:solidFill>
            <a:srgbClr val="003F87">
              <a:alpha val="27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rgbClr val="182090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id="{C61BA3DC-CF5E-54A0-AD0F-9500637615BB}"/>
              </a:ext>
            </a:extLst>
          </p:cNvPr>
          <p:cNvGrpSpPr/>
          <p:nvPr/>
        </p:nvGrpSpPr>
        <p:grpSpPr>
          <a:xfrm>
            <a:off x="794763" y="1437784"/>
            <a:ext cx="5057310" cy="4331025"/>
            <a:chOff x="-49288" y="33613"/>
            <a:chExt cx="3421542" cy="4644448"/>
          </a:xfrm>
        </p:grpSpPr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id="{46E2B441-AA38-EB53-789D-DA5EE04D3D3A}"/>
                </a:ext>
              </a:extLst>
            </p:cNvPr>
            <p:cNvSpPr txBox="1"/>
            <p:nvPr/>
          </p:nvSpPr>
          <p:spPr>
            <a:xfrm>
              <a:off x="-49288" y="33613"/>
              <a:ext cx="1250831" cy="396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003F87"/>
                  </a:solidFill>
                  <a:effectLst/>
                  <a:uLnTx/>
                  <a:uFillTx/>
                  <a:latin typeface="微软雅黑"/>
                  <a:ea typeface="微软雅黑"/>
                  <a:cs typeface="+mn-cs"/>
                </a:rPr>
                <a:t>实验核心结论</a:t>
              </a:r>
              <a:endPara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rgbClr val="003F87"/>
                </a:solidFill>
                <a:effectLst/>
                <a:uLnTx/>
                <a:uFillTx/>
                <a:latin typeface="微软雅黑"/>
                <a:ea typeface="微软雅黑"/>
              </a:endParaRPr>
            </a:p>
          </p:txBody>
        </p:sp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463CC4A5-E2CE-D7BB-9ED8-8EEADFA130AE}"/>
                </a:ext>
              </a:extLst>
            </p:cNvPr>
            <p:cNvSpPr/>
            <p:nvPr/>
          </p:nvSpPr>
          <p:spPr>
            <a:xfrm>
              <a:off x="-8104" y="432319"/>
              <a:ext cx="3380358" cy="4245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zh-CN" altLang="en-US" sz="1600" b="1" dirty="0"/>
                <a:t>🏆预训练大模型全面领先：</a:t>
              </a:r>
              <a:r>
                <a:rPr lang="en-US" altLang="zh-CN" sz="1600" dirty="0" err="1"/>
                <a:t>DistilBERT</a:t>
              </a:r>
              <a:r>
                <a:rPr lang="zh-CN" altLang="en-US" sz="1600" dirty="0"/>
                <a:t>以</a:t>
              </a:r>
              <a:r>
                <a:rPr lang="en-US" altLang="zh-CN" sz="1600" dirty="0"/>
                <a:t>90.0%</a:t>
              </a:r>
              <a:r>
                <a:rPr lang="zh-CN" altLang="en-US" sz="1600" dirty="0"/>
                <a:t>准确率远超传统模型，验证了“预训练</a:t>
              </a:r>
              <a:r>
                <a:rPr lang="en-US" altLang="zh-CN" sz="1600" dirty="0"/>
                <a:t>+</a:t>
              </a:r>
              <a:r>
                <a:rPr lang="zh-CN" altLang="en-US" sz="1600" dirty="0"/>
                <a:t>微调”范式的优势。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1600" b="1" dirty="0"/>
                <a:t>🧬词向量质量决定 </a:t>
              </a:r>
              <a:r>
                <a:rPr lang="en-US" altLang="zh-CN" sz="1600" b="1" dirty="0"/>
                <a:t>RNN </a:t>
              </a:r>
              <a:r>
                <a:rPr lang="zh-CN" altLang="en-US" sz="1600" b="1" dirty="0"/>
                <a:t>性能：</a:t>
              </a:r>
              <a:r>
                <a:rPr lang="zh-CN" altLang="en-US" sz="1600" dirty="0"/>
                <a:t>随机词向量仅</a:t>
              </a:r>
              <a:r>
                <a:rPr lang="en-US" altLang="zh-CN" sz="1600" dirty="0"/>
                <a:t>55%</a:t>
              </a:r>
              <a:r>
                <a:rPr lang="zh-CN" altLang="en-US" sz="1600" dirty="0"/>
                <a:t>，引入</a:t>
              </a:r>
              <a:r>
                <a:rPr lang="en-US" altLang="zh-CN" sz="1600" dirty="0" err="1"/>
                <a:t>GloVe</a:t>
              </a:r>
              <a:r>
                <a:rPr lang="zh-CN" altLang="en-US" sz="1600" dirty="0"/>
                <a:t>后跃升至 </a:t>
              </a:r>
              <a:r>
                <a:rPr lang="en-US" altLang="zh-CN" sz="1600" dirty="0"/>
                <a:t>81.1%</a:t>
              </a:r>
              <a:r>
                <a:rPr lang="zh-CN" altLang="en-US" sz="1600" dirty="0"/>
                <a:t>，提升</a:t>
              </a:r>
              <a:r>
                <a:rPr lang="en-US" altLang="zh-CN" sz="1600" dirty="0"/>
                <a:t>26</a:t>
              </a:r>
              <a:r>
                <a:rPr lang="zh-CN" altLang="en-US" sz="1600" dirty="0"/>
                <a:t>个百分点。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1600" b="1" dirty="0"/>
                <a:t>⚙️</a:t>
              </a:r>
              <a:r>
                <a:rPr lang="en-US" altLang="zh-CN" sz="1600" b="1" dirty="0"/>
                <a:t>CNN </a:t>
              </a:r>
              <a:r>
                <a:rPr lang="zh-CN" altLang="en-US" sz="1600" b="1" dirty="0"/>
                <a:t>调优提升有限：</a:t>
              </a:r>
              <a:r>
                <a:rPr lang="zh-CN" altLang="en-US" sz="1600" dirty="0"/>
                <a:t>基线</a:t>
              </a:r>
              <a:r>
                <a:rPr lang="en-US" altLang="zh-CN" sz="1600" dirty="0"/>
                <a:t>84.5% </a:t>
              </a:r>
              <a:r>
                <a:rPr lang="zh-CN" altLang="en-US" sz="1600" dirty="0"/>
                <a:t>，最优</a:t>
              </a:r>
              <a:r>
                <a:rPr lang="en-US" altLang="zh-CN" sz="1600" dirty="0"/>
                <a:t>84.7%</a:t>
              </a:r>
              <a:r>
                <a:rPr lang="zh-CN" altLang="en-US" sz="1600" dirty="0"/>
                <a:t>，仅增</a:t>
              </a:r>
              <a:r>
                <a:rPr lang="en-US" altLang="zh-CN" sz="1600" dirty="0"/>
                <a:t>0.2%</a:t>
              </a:r>
              <a:r>
                <a:rPr lang="zh-CN" altLang="en-US" sz="1600" dirty="0"/>
                <a:t>；但参数设置不当会导致模型崩溃。</a:t>
              </a:r>
            </a:p>
            <a:p>
              <a:pPr>
                <a:lnSpc>
                  <a:spcPct val="200000"/>
                </a:lnSpc>
              </a:pPr>
              <a:r>
                <a:rPr lang="zh-CN" altLang="en-US" sz="1600" b="1" dirty="0"/>
                <a:t>🧩架构各有所长：</a:t>
              </a:r>
              <a:r>
                <a:rPr lang="en-US" altLang="zh-CN" sz="1600" dirty="0"/>
                <a:t>CNN </a:t>
              </a:r>
              <a:r>
                <a:rPr lang="zh-CN" altLang="en-US" sz="1600" dirty="0"/>
                <a:t>擅局部特征，</a:t>
              </a:r>
              <a:r>
                <a:rPr lang="en-US" altLang="zh-CN" sz="1600" dirty="0"/>
                <a:t>RNN </a:t>
              </a:r>
              <a:r>
                <a:rPr lang="zh-CN" altLang="en-US" sz="1600" dirty="0"/>
                <a:t>擅序列依赖，</a:t>
              </a:r>
              <a:r>
                <a:rPr lang="en-US" altLang="zh-CN" sz="1600" dirty="0"/>
                <a:t>Transformer </a:t>
              </a:r>
              <a:r>
                <a:rPr lang="zh-CN" altLang="en-US" sz="1600" dirty="0"/>
                <a:t>擅全局语义。</a:t>
              </a:r>
              <a:endParaRPr lang="zh-CN" altLang="zh-CN" sz="1600" dirty="0"/>
            </a:p>
          </p:txBody>
        </p:sp>
      </p:grpSp>
      <p:pic>
        <p:nvPicPr>
          <p:cNvPr id="41" name="图形 40">
            <a:extLst>
              <a:ext uri="{FF2B5EF4-FFF2-40B4-BE49-F238E27FC236}">
                <a16:creationId xmlns:a16="http://schemas.microsoft.com/office/drawing/2014/main" id="{EBB55791-9BCF-92FE-EA13-96DFC7C036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3661" y="98896"/>
            <a:ext cx="1251222" cy="347019"/>
          </a:xfrm>
          <a:prstGeom prst="rect">
            <a:avLst/>
          </a:prstGeom>
        </p:spPr>
      </p:pic>
      <p:grpSp>
        <p:nvGrpSpPr>
          <p:cNvPr id="3" name="组合 2">
            <a:extLst>
              <a:ext uri="{FF2B5EF4-FFF2-40B4-BE49-F238E27FC236}">
                <a16:creationId xmlns:a16="http://schemas.microsoft.com/office/drawing/2014/main" id="{689E2DD9-F7F6-7AE7-F0E6-CBE868035575}"/>
              </a:ext>
            </a:extLst>
          </p:cNvPr>
          <p:cNvGrpSpPr/>
          <p:nvPr/>
        </p:nvGrpSpPr>
        <p:grpSpPr>
          <a:xfrm>
            <a:off x="6093717" y="1437784"/>
            <a:ext cx="5303520" cy="4823467"/>
            <a:chOff x="309634" y="533571"/>
            <a:chExt cx="7266139" cy="4823467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5EB64012-7875-EC3C-8735-84DC62FDC580}"/>
                </a:ext>
              </a:extLst>
            </p:cNvPr>
            <p:cNvSpPr txBox="1"/>
            <p:nvPr/>
          </p:nvSpPr>
          <p:spPr>
            <a:xfrm>
              <a:off x="309634" y="533571"/>
              <a:ext cx="28132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dirty="0">
                  <a:solidFill>
                    <a:srgbClr val="003F87"/>
                  </a:solidFill>
                  <a:latin typeface="微软雅黑"/>
                  <a:ea typeface="微软雅黑"/>
                </a:rPr>
                <a:t>后续改进方向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24E2D8DF-4CA0-4758-9191-1B3D773BFC3E}"/>
                </a:ext>
              </a:extLst>
            </p:cNvPr>
            <p:cNvSpPr/>
            <p:nvPr/>
          </p:nvSpPr>
          <p:spPr>
            <a:xfrm>
              <a:off x="535624" y="905370"/>
              <a:ext cx="7040149" cy="44516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200000"/>
                </a:lnSpc>
              </a:pPr>
              <a:r>
                <a:rPr lang="zh-CN" altLang="en-US" sz="1600" b="1" dirty="0"/>
                <a:t>🧠引入注意力机制：</a:t>
              </a:r>
              <a:r>
                <a:rPr lang="zh-CN" altLang="en-US" sz="1600" dirty="0"/>
                <a:t>在 </a:t>
              </a:r>
              <a:r>
                <a:rPr lang="en-US" altLang="zh-CN" sz="1600" dirty="0" err="1"/>
                <a:t>BiLSTM</a:t>
              </a:r>
              <a:r>
                <a:rPr lang="en-US" altLang="zh-CN" sz="1600" dirty="0"/>
                <a:t> </a:t>
              </a:r>
              <a:r>
                <a:rPr lang="zh-CN" altLang="en-US" sz="1600" dirty="0"/>
                <a:t>上添加注意力层，进一步提升序列建模能力。</a:t>
              </a:r>
            </a:p>
            <a:p>
              <a:pPr algn="just">
                <a:lnSpc>
                  <a:spcPct val="200000"/>
                </a:lnSpc>
              </a:pPr>
              <a:r>
                <a:rPr lang="zh-CN" altLang="en-US" sz="1600" b="1" dirty="0"/>
                <a:t>📊数据增强：</a:t>
              </a:r>
              <a:r>
                <a:rPr lang="zh-CN" altLang="en-US" sz="1600" dirty="0"/>
                <a:t>使用回译、同义词替换等方法扩充训练集，提升模型鲁棒性。</a:t>
              </a:r>
            </a:p>
            <a:p>
              <a:pPr algn="just">
                <a:lnSpc>
                  <a:spcPct val="200000"/>
                </a:lnSpc>
              </a:pPr>
              <a:r>
                <a:rPr lang="zh-CN" altLang="en-US" sz="1600" b="1" dirty="0"/>
                <a:t>🚀更大规模预训练模型：</a:t>
              </a:r>
              <a:r>
                <a:rPr lang="zh-CN" altLang="en-US" sz="1600" dirty="0"/>
                <a:t>微调 </a:t>
              </a:r>
              <a:r>
                <a:rPr lang="en-US" altLang="zh-CN" sz="1600" dirty="0" err="1"/>
                <a:t>RoBERTa</a:t>
              </a:r>
              <a:r>
                <a:rPr lang="zh-CN" altLang="en-US" sz="1600" dirty="0"/>
                <a:t>、</a:t>
              </a:r>
              <a:r>
                <a:rPr lang="en-US" altLang="zh-CN" sz="1600" dirty="0" err="1"/>
                <a:t>DeBERTa</a:t>
              </a:r>
              <a:r>
                <a:rPr lang="en-US" altLang="zh-CN" sz="1600" dirty="0"/>
                <a:t> </a:t>
              </a:r>
              <a:r>
                <a:rPr lang="zh-CN" altLang="en-US" sz="1600" dirty="0"/>
                <a:t>等更强模型，预期准确率可达 </a:t>
              </a:r>
              <a:r>
                <a:rPr lang="en-US" altLang="zh-CN" sz="1600" dirty="0"/>
                <a:t>92% </a:t>
              </a:r>
              <a:r>
                <a:rPr lang="zh-CN" altLang="en-US" sz="1600" dirty="0"/>
                <a:t>以上。</a:t>
              </a:r>
            </a:p>
            <a:p>
              <a:pPr algn="just">
                <a:lnSpc>
                  <a:spcPct val="200000"/>
                </a:lnSpc>
              </a:pPr>
              <a:r>
                <a:rPr lang="zh-CN" altLang="en-US" sz="1600" b="1" dirty="0"/>
                <a:t>🤝模型集成：</a:t>
              </a:r>
              <a:r>
                <a:rPr lang="zh-CN" altLang="en-US" sz="1600" dirty="0"/>
                <a:t>对三个模型的预测结果进行加权投票，有望获得超过单模型的性能。</a:t>
              </a:r>
            </a:p>
            <a:p>
              <a:pPr algn="just">
                <a:lnSpc>
                  <a:spcPct val="200000"/>
                </a:lnSpc>
              </a:pPr>
              <a:endParaRPr lang="zh-CN" altLang="zh-CN" sz="1600" dirty="0"/>
            </a:p>
          </p:txBody>
        </p: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32AFCEBB-9BA3-0171-E64C-19960225F962}"/>
              </a:ext>
            </a:extLst>
          </p:cNvPr>
          <p:cNvSpPr txBox="1"/>
          <p:nvPr/>
        </p:nvSpPr>
        <p:spPr>
          <a:xfrm>
            <a:off x="-257625" y="874020"/>
            <a:ext cx="31875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000" dirty="0">
                <a:solidFill>
                  <a:srgbClr val="003F87"/>
                </a:solidFill>
                <a:latin typeface="微软雅黑"/>
                <a:ea typeface="微软雅黑"/>
              </a:rPr>
              <a:t>总结与展望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016705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形 27">
            <a:extLst>
              <a:ext uri="{FF2B5EF4-FFF2-40B4-BE49-F238E27FC236}">
                <a16:creationId xmlns:a16="http://schemas.microsoft.com/office/drawing/2014/main" id="{9E16A54B-3014-4DC3-A96D-7A2A8A68AC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10309" y="1445121"/>
            <a:ext cx="5215098" cy="4330394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4" name="图形 23">
            <a:extLst>
              <a:ext uri="{FF2B5EF4-FFF2-40B4-BE49-F238E27FC236}">
                <a16:creationId xmlns:a16="http://schemas.microsoft.com/office/drawing/2014/main" id="{E86CA992-2458-4D0A-B4A6-2C7C965298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331960" y="2827608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01A623C9-37DC-4B6E-BD65-56B0C337645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58912" y="3669555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20" name="矩形 19">
            <a:extLst>
              <a:ext uri="{FF2B5EF4-FFF2-40B4-BE49-F238E27FC236}">
                <a16:creationId xmlns:a16="http://schemas.microsoft.com/office/drawing/2014/main" id="{C0BC3B4D-DE95-4660-8889-F39AB20F4DBD}"/>
              </a:ext>
            </a:extLst>
          </p:cNvPr>
          <p:cNvSpPr/>
          <p:nvPr/>
        </p:nvSpPr>
        <p:spPr>
          <a:xfrm flipV="1">
            <a:off x="0" y="6552308"/>
            <a:ext cx="12178488" cy="305692"/>
          </a:xfrm>
          <a:prstGeom prst="rect">
            <a:avLst/>
          </a:prstGeom>
          <a:solidFill>
            <a:srgbClr val="003F8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 Light"/>
              <a:ea typeface="微软雅黑 Light"/>
              <a:cs typeface="+mn-cs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20597D1-D3A9-4543-B7E9-42A99E9122D9}"/>
              </a:ext>
            </a:extLst>
          </p:cNvPr>
          <p:cNvSpPr txBox="1"/>
          <p:nvPr/>
        </p:nvSpPr>
        <p:spPr>
          <a:xfrm>
            <a:off x="8016305" y="2558909"/>
            <a:ext cx="2703287" cy="7222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4000" dirty="0">
                <a:solidFill>
                  <a:srgbClr val="003F87"/>
                </a:solidFill>
                <a:latin typeface="微软雅黑"/>
                <a:ea typeface="微软雅黑"/>
              </a:rPr>
              <a:t>感谢观看</a:t>
            </a:r>
            <a:endParaRPr kumimoji="0" lang="zh-CN" altLang="en-US" sz="4000" b="0" i="0" u="none" strike="noStrike" kern="1200" cap="none" spc="0" normalizeH="0" baseline="0" noProof="0" dirty="0">
              <a:ln>
                <a:noFill/>
              </a:ln>
              <a:solidFill>
                <a:srgbClr val="003F87"/>
              </a:solidFill>
              <a:effectLst/>
              <a:uLnTx/>
              <a:uFillTx/>
              <a:latin typeface="微软雅黑"/>
              <a:ea typeface="微软雅黑"/>
            </a:endParaRPr>
          </a:p>
        </p:txBody>
      </p:sp>
      <p:pic>
        <p:nvPicPr>
          <p:cNvPr id="5" name="图形 4">
            <a:extLst>
              <a:ext uri="{FF2B5EF4-FFF2-40B4-BE49-F238E27FC236}">
                <a16:creationId xmlns:a16="http://schemas.microsoft.com/office/drawing/2014/main" id="{1E317E6C-BBA7-4430-84FA-4C6C4487FA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3909" y="175131"/>
            <a:ext cx="1508654" cy="529352"/>
          </a:xfrm>
          <a:prstGeom prst="rect">
            <a:avLst/>
          </a:prstGeom>
        </p:spPr>
      </p:pic>
      <p:pic>
        <p:nvPicPr>
          <p:cNvPr id="15" name="图形 14">
            <a:extLst>
              <a:ext uri="{FF2B5EF4-FFF2-40B4-BE49-F238E27FC236}">
                <a16:creationId xmlns:a16="http://schemas.microsoft.com/office/drawing/2014/main" id="{A3094F62-EAF0-41BE-8707-942335AF678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88208" y="426805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16" name="图形 15">
            <a:extLst>
              <a:ext uri="{FF2B5EF4-FFF2-40B4-BE49-F238E27FC236}">
                <a16:creationId xmlns:a16="http://schemas.microsoft.com/office/drawing/2014/main" id="{D76DFED0-B383-4A06-A2D3-4719720C403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1408" y="4402483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2" name="图形 21">
            <a:extLst>
              <a:ext uri="{FF2B5EF4-FFF2-40B4-BE49-F238E27FC236}">
                <a16:creationId xmlns:a16="http://schemas.microsoft.com/office/drawing/2014/main" id="{9C81B2E4-B51C-49D8-B71F-3CEFEAECCA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101408" y="5365067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25" name="文本框 24">
            <a:extLst>
              <a:ext uri="{FF2B5EF4-FFF2-40B4-BE49-F238E27FC236}">
                <a16:creationId xmlns:a16="http://schemas.microsoft.com/office/drawing/2014/main" id="{E3FECFCA-7D80-4796-9562-DE7780060511}"/>
              </a:ext>
            </a:extLst>
          </p:cNvPr>
          <p:cNvSpPr txBox="1"/>
          <p:nvPr/>
        </p:nvSpPr>
        <p:spPr>
          <a:xfrm>
            <a:off x="4135771" y="6104482"/>
            <a:ext cx="37749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003F87"/>
                </a:solidFill>
              </a:rPr>
              <a:t>勤 学 </a:t>
            </a:r>
            <a:r>
              <a:rPr lang="en-US" altLang="zh-CN" dirty="0">
                <a:solidFill>
                  <a:srgbClr val="003F87"/>
                </a:solidFill>
              </a:rPr>
              <a:t> /  </a:t>
            </a:r>
            <a:r>
              <a:rPr lang="zh-CN" altLang="en-US" dirty="0">
                <a:solidFill>
                  <a:srgbClr val="003F87"/>
                </a:solidFill>
              </a:rPr>
              <a:t>修 德  </a:t>
            </a:r>
            <a:r>
              <a:rPr lang="en-US" altLang="zh-CN" dirty="0">
                <a:solidFill>
                  <a:srgbClr val="003F87"/>
                </a:solidFill>
              </a:rPr>
              <a:t>/  </a:t>
            </a:r>
            <a:r>
              <a:rPr lang="zh-CN" altLang="en-US" dirty="0">
                <a:solidFill>
                  <a:srgbClr val="003F87"/>
                </a:solidFill>
              </a:rPr>
              <a:t>明 辨  </a:t>
            </a:r>
            <a:r>
              <a:rPr lang="en-US" altLang="zh-CN" dirty="0">
                <a:solidFill>
                  <a:srgbClr val="003F87"/>
                </a:solidFill>
              </a:rPr>
              <a:t>/  </a:t>
            </a:r>
            <a:r>
              <a:rPr lang="zh-CN" altLang="en-US" dirty="0">
                <a:solidFill>
                  <a:srgbClr val="003F87"/>
                </a:solidFill>
              </a:rPr>
              <a:t>笃 实</a:t>
            </a:r>
          </a:p>
        </p:txBody>
      </p:sp>
      <p:pic>
        <p:nvPicPr>
          <p:cNvPr id="27" name="图形 26">
            <a:extLst>
              <a:ext uri="{FF2B5EF4-FFF2-40B4-BE49-F238E27FC236}">
                <a16:creationId xmlns:a16="http://schemas.microsoft.com/office/drawing/2014/main" id="{6A1B681F-C850-4D63-9310-6FD6D4B8419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3928" y="3360503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29" name="图形 28">
            <a:extLst>
              <a:ext uri="{FF2B5EF4-FFF2-40B4-BE49-F238E27FC236}">
                <a16:creationId xmlns:a16="http://schemas.microsoft.com/office/drawing/2014/main" id="{9718D3A6-E32A-4F9D-A1F9-D28E2D3ECD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107928" y="673324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31" name="图形 30">
            <a:extLst>
              <a:ext uri="{FF2B5EF4-FFF2-40B4-BE49-F238E27FC236}">
                <a16:creationId xmlns:a16="http://schemas.microsoft.com/office/drawing/2014/main" id="{630D5242-335A-4398-B6EC-29E1F7963E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04305" y="4857050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pic>
        <p:nvPicPr>
          <p:cNvPr id="32" name="图形 31">
            <a:extLst>
              <a:ext uri="{FF2B5EF4-FFF2-40B4-BE49-F238E27FC236}">
                <a16:creationId xmlns:a16="http://schemas.microsoft.com/office/drawing/2014/main" id="{DC784CC6-B30C-4AE7-9777-FC110D3031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47866" y="4360212"/>
            <a:ext cx="623999" cy="518142"/>
          </a:xfrm>
          <a:prstGeom prst="rect">
            <a:avLst/>
          </a:prstGeom>
          <a:effectLst>
            <a:glow rad="12700">
              <a:schemeClr val="bg1">
                <a:alpha val="41000"/>
              </a:schemeClr>
            </a:glow>
          </a:effectLst>
        </p:spPr>
      </p:pic>
      <p:sp>
        <p:nvSpPr>
          <p:cNvPr id="4" name="椭圆 3"/>
          <p:cNvSpPr/>
          <p:nvPr/>
        </p:nvSpPr>
        <p:spPr>
          <a:xfrm>
            <a:off x="7623222" y="5482886"/>
            <a:ext cx="2987665" cy="777348"/>
          </a:xfrm>
          <a:prstGeom prst="ellipse">
            <a:avLst/>
          </a:prstGeom>
          <a:noFill/>
          <a:ln w="38100">
            <a:solidFill>
              <a:srgbClr val="8DA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椭圆 25"/>
          <p:cNvSpPr/>
          <p:nvPr/>
        </p:nvSpPr>
        <p:spPr>
          <a:xfrm>
            <a:off x="8185335" y="5781218"/>
            <a:ext cx="1863440" cy="242352"/>
          </a:xfrm>
          <a:prstGeom prst="ellipse">
            <a:avLst/>
          </a:prstGeom>
          <a:noFill/>
          <a:ln w="38100">
            <a:solidFill>
              <a:srgbClr val="8DA1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607B28E0-4F40-9B3E-B59E-15A3F14AC7A4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02"/>
          <a:stretch/>
        </p:blipFill>
        <p:spPr>
          <a:xfrm>
            <a:off x="413719" y="1679927"/>
            <a:ext cx="5527713" cy="368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666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大气简约答辩类PPT模板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 Light"/>
        <a:ea typeface="微软雅黑"/>
        <a:cs typeface=""/>
      </a:majorFont>
      <a:minorFont>
        <a:latin typeface="微软雅黑 Light"/>
        <a:ea typeface="微软雅黑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991</TotalTime>
  <Words>1126</Words>
  <Application>Microsoft Office PowerPoint</Application>
  <PresentationFormat>宽屏</PresentationFormat>
  <Paragraphs>133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微软雅黑</vt:lpstr>
      <vt:lpstr>微软雅黑 Light</vt:lpstr>
      <vt:lpstr>Arial</vt:lpstr>
      <vt:lpstr>Calibri Light</vt:lpstr>
      <vt:lpstr>Wingdings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蓝色大气简约答辩类PPT模板</dc:title>
  <dc:creator>Windows 用户</dc:creator>
  <cp:lastModifiedBy>2144882902@qq.com</cp:lastModifiedBy>
  <cp:revision>63</cp:revision>
  <dcterms:created xsi:type="dcterms:W3CDTF">2018-09-30T02:27:57Z</dcterms:created>
  <dcterms:modified xsi:type="dcterms:W3CDTF">2026-06-17T05:32:48Z</dcterms:modified>
</cp:coreProperties>
</file>